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Deux lignes hiérarchiques distinctes : gouvernance (CDO, CoE, stewards) et data management (CTO, Head of Engineering, Data Engineers), conformément au cours. Le DPO est hors de la ligne du CDO (indépendance, GDPR art. 38). Le Committee mensuel est la couche de coordination du CoE.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212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54864"/>
          </a:xfrm>
          <a:prstGeom prst="rect">
            <a:avLst/>
          </a:prstGeom>
          <a:solidFill>
            <a:srgbClr val="1DB9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64592"/>
            <a:ext cx="11430000" cy="731520"/>
          </a:xfrm>
          <a:prstGeom prst="rect">
            <a:avLst/>
          </a:prstGeom>
          <a:noFill/>
        </p:spPr>
        <p:txBody>
          <a:bodyPr wrap="square" anchor="t" lIns="45720" rIns="45720" tIns="27432" bIns="27432">
            <a:spAutoFit/>
          </a:bodyPr>
          <a:lstStyle/>
          <a:p>
            <a:pPr algn="l"/>
            <a:r>
              <a:rPr sz="2800" b="1" i="0">
                <a:solidFill>
                  <a:srgbClr val="1DB954"/>
                </a:solidFill>
              </a:rPr>
              <a:t>Organisation &amp; rôles — Spotify Data Governance</a:t>
            </a:r>
          </a:p>
        </p:txBody>
      </p:sp>
      <p:sp>
        <p:nvSpPr>
          <p:cNvPr id="5" name="TextBox 4"/>
          <p:cNvSpPr txBox="1"/>
          <p:nvPr/>
        </p:nvSpPr>
        <p:spPr>
          <a:xfrm>
            <a:off x="365760" y="804672"/>
            <a:ext cx="11430000" cy="411480"/>
          </a:xfrm>
          <a:prstGeom prst="rect">
            <a:avLst/>
          </a:prstGeom>
          <a:noFill/>
        </p:spPr>
        <p:txBody>
          <a:bodyPr wrap="square" anchor="t" lIns="45720" rIns="45720" tIns="27432" bIns="27432">
            <a:spAutoFit/>
          </a:bodyPr>
          <a:lstStyle/>
          <a:p>
            <a:pPr algn="l"/>
            <a:r>
              <a:rPr sz="1300" b="0" i="0">
                <a:solidFill>
                  <a:srgbClr val="B3B3B3"/>
                </a:solidFill>
              </a:rPr>
              <a:t>Modèle Centre of Excellence · la gouvernance définit et audite, l'engineering implémente</a:t>
            </a:r>
          </a:p>
        </p:txBody>
      </p:sp>
      <p:sp>
        <p:nvSpPr>
          <p:cNvPr id="6" name="Rectangle 5"/>
          <p:cNvSpPr/>
          <p:nvPr/>
        </p:nvSpPr>
        <p:spPr>
          <a:xfrm>
            <a:off x="365760" y="1207008"/>
            <a:ext cx="11430000" cy="27432"/>
          </a:xfrm>
          <a:prstGeom prst="rect">
            <a:avLst/>
          </a:prstGeom>
          <a:solidFill>
            <a:srgbClr val="1DB9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029200" y="1371600"/>
            <a:ext cx="2103120" cy="566928"/>
          </a:xfrm>
          <a:prstGeom prst="roundRect">
            <a:avLst>
              <a:gd name="adj" fmla="val 12000"/>
            </a:avLst>
          </a:prstGeom>
          <a:solidFill>
            <a:srgbClr val="1E1E1E"/>
          </a:solidFill>
          <a:ln w="12700">
            <a:solidFill>
              <a:srgbClr val="1DB954"/>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100" b="1">
                <a:solidFill>
                  <a:srgbClr val="FFFFFF"/>
                </a:solidFill>
              </a:rPr>
              <a:t>CEO</a:t>
            </a:r>
          </a:p>
        </p:txBody>
      </p:sp>
      <p:sp>
        <p:nvSpPr>
          <p:cNvPr id="8" name="Rounded Rectangle 7"/>
          <p:cNvSpPr/>
          <p:nvPr/>
        </p:nvSpPr>
        <p:spPr>
          <a:xfrm>
            <a:off x="640080" y="2286000"/>
            <a:ext cx="2103120" cy="566928"/>
          </a:xfrm>
          <a:prstGeom prst="roundRect">
            <a:avLst>
              <a:gd name="adj" fmla="val 12000"/>
            </a:avLst>
          </a:prstGeom>
          <a:solidFill>
            <a:srgbClr val="1E1E1E"/>
          </a:solidFill>
          <a:ln w="12700">
            <a:solidFill>
              <a:srgbClr val="1DB954"/>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100" b="1">
                <a:solidFill>
                  <a:srgbClr val="FFFFFF"/>
                </a:solidFill>
              </a:rPr>
              <a:t>CDO</a:t>
            </a:r>
          </a:p>
          <a:p>
            <a:pPr algn="ctr"/>
            <a:r>
              <a:rPr sz="850">
                <a:solidFill>
                  <a:srgbClr val="B3B3B3"/>
                </a:solidFill>
              </a:rPr>
              <a:t>stratégie data · pilote le CoE</a:t>
            </a:r>
          </a:p>
        </p:txBody>
      </p:sp>
      <p:sp>
        <p:nvSpPr>
          <p:cNvPr id="9" name="Rounded Rectangle 8"/>
          <p:cNvSpPr/>
          <p:nvPr/>
        </p:nvSpPr>
        <p:spPr>
          <a:xfrm>
            <a:off x="3703320" y="2286000"/>
            <a:ext cx="2103120" cy="566928"/>
          </a:xfrm>
          <a:prstGeom prst="roundRect">
            <a:avLst>
              <a:gd name="adj" fmla="val 12000"/>
            </a:avLst>
          </a:prstGeom>
          <a:solidFill>
            <a:srgbClr val="1E1E1E"/>
          </a:solidFill>
          <a:ln w="12700">
            <a:solidFill>
              <a:srgbClr val="1DB954"/>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100" b="1">
                <a:solidFill>
                  <a:srgbClr val="FFFFFF"/>
                </a:solidFill>
              </a:rPr>
              <a:t>DPO</a:t>
            </a:r>
          </a:p>
          <a:p>
            <a:pPr algn="ctr"/>
            <a:r>
              <a:rPr sz="850">
                <a:solidFill>
                  <a:srgbClr val="B3B3B3"/>
                </a:solidFill>
              </a:rPr>
              <a:t>indépendant · conformité</a:t>
            </a:r>
          </a:p>
        </p:txBody>
      </p:sp>
      <p:sp>
        <p:nvSpPr>
          <p:cNvPr id="10" name="Rounded Rectangle 9"/>
          <p:cNvSpPr/>
          <p:nvPr/>
        </p:nvSpPr>
        <p:spPr>
          <a:xfrm>
            <a:off x="6492240" y="2286000"/>
            <a:ext cx="2103120" cy="566928"/>
          </a:xfrm>
          <a:prstGeom prst="roundRect">
            <a:avLst>
              <a:gd name="adj" fmla="val 12000"/>
            </a:avLst>
          </a:prstGeom>
          <a:solidFill>
            <a:srgbClr val="1E1E1E"/>
          </a:solidFill>
          <a:ln w="12700">
            <a:solidFill>
              <a:srgbClr val="B3B3B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100" b="1">
                <a:solidFill>
                  <a:srgbClr val="FFFFFF"/>
                </a:solidFill>
              </a:rPr>
              <a:t>CTO</a:t>
            </a:r>
          </a:p>
          <a:p>
            <a:pPr algn="ctr"/>
            <a:r>
              <a:rPr sz="850">
                <a:solidFill>
                  <a:srgbClr val="B3B3B3"/>
                </a:solidFill>
              </a:rPr>
              <a:t>technologie</a:t>
            </a:r>
          </a:p>
        </p:txBody>
      </p:sp>
      <p:sp>
        <p:nvSpPr>
          <p:cNvPr id="11" name="Rounded Rectangle 10"/>
          <p:cNvSpPr/>
          <p:nvPr/>
        </p:nvSpPr>
        <p:spPr>
          <a:xfrm>
            <a:off x="9281160" y="2286000"/>
            <a:ext cx="2103120" cy="566928"/>
          </a:xfrm>
          <a:prstGeom prst="roundRect">
            <a:avLst>
              <a:gd name="adj" fmla="val 12000"/>
            </a:avLst>
          </a:prstGeom>
          <a:solidFill>
            <a:srgbClr val="1E1E1E"/>
          </a:solidFill>
          <a:ln w="12700">
            <a:solidFill>
              <a:srgbClr val="B3B3B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100" b="1">
                <a:solidFill>
                  <a:srgbClr val="FFFFFF"/>
                </a:solidFill>
              </a:rPr>
              <a:t>Legal</a:t>
            </a:r>
          </a:p>
          <a:p>
            <a:pPr algn="ctr"/>
            <a:r>
              <a:rPr sz="850">
                <a:solidFill>
                  <a:srgbClr val="B3B3B3"/>
                </a:solidFill>
              </a:rPr>
              <a:t>validation juridique</a:t>
            </a:r>
          </a:p>
        </p:txBody>
      </p:sp>
      <p:cxnSp>
        <p:nvCxnSpPr>
          <p:cNvPr id="12" name="Connector 11"/>
          <p:cNvCxnSpPr/>
          <p:nvPr/>
        </p:nvCxnSpPr>
        <p:spPr>
          <a:xfrm>
            <a:off x="6080760" y="1938528"/>
            <a:ext cx="0" cy="173736"/>
          </a:xfrm>
          <a:prstGeom prst="line">
            <a:avLst/>
          </a:prstGeom>
          <a:ln w="15875">
            <a:solidFill>
              <a:srgbClr val="B3B3B3"/>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691639" y="2112264"/>
            <a:ext cx="8641081" cy="0"/>
          </a:xfrm>
          <a:prstGeom prst="line">
            <a:avLst/>
          </a:prstGeom>
          <a:ln w="15875">
            <a:solidFill>
              <a:srgbClr val="B3B3B3"/>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1691639" y="2112264"/>
            <a:ext cx="0" cy="173736"/>
          </a:xfrm>
          <a:prstGeom prst="line">
            <a:avLst/>
          </a:prstGeom>
          <a:ln w="15875">
            <a:solidFill>
              <a:srgbClr val="B3B3B3"/>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4754879" y="2112264"/>
            <a:ext cx="0" cy="173736"/>
          </a:xfrm>
          <a:prstGeom prst="line">
            <a:avLst/>
          </a:prstGeom>
          <a:ln w="15875">
            <a:solidFill>
              <a:srgbClr val="B3B3B3"/>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7543800" y="2112264"/>
            <a:ext cx="0" cy="173736"/>
          </a:xfrm>
          <a:prstGeom prst="line">
            <a:avLst/>
          </a:prstGeom>
          <a:ln w="15875">
            <a:solidFill>
              <a:srgbClr val="B3B3B3"/>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0332720" y="2112264"/>
            <a:ext cx="0" cy="173736"/>
          </a:xfrm>
          <a:prstGeom prst="line">
            <a:avLst/>
          </a:prstGeom>
          <a:ln w="15875">
            <a:solidFill>
              <a:srgbClr val="B3B3B3"/>
            </a:solidFill>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640080" y="3200400"/>
            <a:ext cx="2103120" cy="566928"/>
          </a:xfrm>
          <a:prstGeom prst="roundRect">
            <a:avLst>
              <a:gd name="adj" fmla="val 12000"/>
            </a:avLst>
          </a:prstGeom>
          <a:solidFill>
            <a:srgbClr val="1E1E1E"/>
          </a:solidFill>
          <a:ln w="12700">
            <a:solidFill>
              <a:srgbClr val="1DB954"/>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100" b="1">
                <a:solidFill>
                  <a:srgbClr val="FFFFFF"/>
                </a:solidFill>
              </a:rPr>
              <a:t>Data Governance CoE</a:t>
            </a:r>
          </a:p>
          <a:p>
            <a:pPr algn="ctr"/>
            <a:r>
              <a:rPr sz="850">
                <a:solidFill>
                  <a:srgbClr val="B3B3B3"/>
                </a:solidFill>
              </a:rPr>
              <a:t>4-6 pers. · standards, catalogue, formation, audit</a:t>
            </a:r>
          </a:p>
        </p:txBody>
      </p:sp>
      <p:sp>
        <p:nvSpPr>
          <p:cNvPr id="19" name="Rounded Rectangle 18"/>
          <p:cNvSpPr/>
          <p:nvPr/>
        </p:nvSpPr>
        <p:spPr>
          <a:xfrm>
            <a:off x="3703320" y="3200400"/>
            <a:ext cx="2103120" cy="566928"/>
          </a:xfrm>
          <a:prstGeom prst="roundRect">
            <a:avLst>
              <a:gd name="adj" fmla="val 12000"/>
            </a:avLst>
          </a:prstGeom>
          <a:solidFill>
            <a:srgbClr val="1E1E1E"/>
          </a:solidFill>
          <a:ln w="12700">
            <a:solidFill>
              <a:srgbClr val="B3B3B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100" b="1">
                <a:solidFill>
                  <a:srgbClr val="FFFFFF"/>
                </a:solidFill>
              </a:rPr>
              <a:t>Privacy Team</a:t>
            </a:r>
          </a:p>
          <a:p>
            <a:pPr algn="ctr"/>
            <a:r>
              <a:rPr sz="850">
                <a:solidFill>
                  <a:srgbClr val="B3B3B3"/>
                </a:solidFill>
              </a:rPr>
              <a:t>2 analystes · droits des personnes</a:t>
            </a:r>
          </a:p>
        </p:txBody>
      </p:sp>
      <p:sp>
        <p:nvSpPr>
          <p:cNvPr id="20" name="Rounded Rectangle 19"/>
          <p:cNvSpPr/>
          <p:nvPr/>
        </p:nvSpPr>
        <p:spPr>
          <a:xfrm>
            <a:off x="6492240" y="3200400"/>
            <a:ext cx="2103120" cy="566928"/>
          </a:xfrm>
          <a:prstGeom prst="roundRect">
            <a:avLst>
              <a:gd name="adj" fmla="val 12000"/>
            </a:avLst>
          </a:prstGeom>
          <a:solidFill>
            <a:srgbClr val="1E1E1E"/>
          </a:solidFill>
          <a:ln w="12700">
            <a:solidFill>
              <a:srgbClr val="B3B3B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100" b="1">
                <a:solidFill>
                  <a:srgbClr val="FFFFFF"/>
                </a:solidFill>
              </a:rPr>
              <a:t>Head of Engineering</a:t>
            </a:r>
          </a:p>
          <a:p>
            <a:pPr algn="ctr"/>
            <a:r>
              <a:rPr sz="850">
                <a:solidFill>
                  <a:srgbClr val="B3B3B3"/>
                </a:solidFill>
              </a:rPr>
              <a:t>implémente les contrôles</a:t>
            </a:r>
          </a:p>
        </p:txBody>
      </p:sp>
      <p:cxnSp>
        <p:nvCxnSpPr>
          <p:cNvPr id="21" name="Connector 20"/>
          <p:cNvCxnSpPr/>
          <p:nvPr/>
        </p:nvCxnSpPr>
        <p:spPr>
          <a:xfrm>
            <a:off x="1691639" y="2852928"/>
            <a:ext cx="0" cy="347472"/>
          </a:xfrm>
          <a:prstGeom prst="line">
            <a:avLst/>
          </a:prstGeom>
          <a:ln w="15875">
            <a:solidFill>
              <a:srgbClr val="B3B3B3"/>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4754879" y="2852928"/>
            <a:ext cx="0" cy="347472"/>
          </a:xfrm>
          <a:prstGeom prst="line">
            <a:avLst/>
          </a:prstGeom>
          <a:ln w="15875">
            <a:solidFill>
              <a:srgbClr val="B3B3B3"/>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7543800" y="2852928"/>
            <a:ext cx="0" cy="347472"/>
          </a:xfrm>
          <a:prstGeom prst="line">
            <a:avLst/>
          </a:prstGeom>
          <a:ln w="15875">
            <a:solidFill>
              <a:srgbClr val="B3B3B3"/>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1691639" y="3767328"/>
            <a:ext cx="0" cy="182880"/>
          </a:xfrm>
          <a:prstGeom prst="line">
            <a:avLst/>
          </a:prstGeom>
          <a:ln w="15875">
            <a:solidFill>
              <a:srgbClr val="B3B3B3"/>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1179576" y="3950208"/>
            <a:ext cx="4681728" cy="0"/>
          </a:xfrm>
          <a:prstGeom prst="line">
            <a:avLst/>
          </a:prstGeom>
          <a:ln w="15875">
            <a:solidFill>
              <a:srgbClr val="B3B3B3"/>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1179576" y="3950208"/>
            <a:ext cx="0" cy="210312"/>
          </a:xfrm>
          <a:prstGeom prst="line">
            <a:avLst/>
          </a:prstGeom>
          <a:ln w="15875">
            <a:solidFill>
              <a:srgbClr val="B3B3B3"/>
            </a:solidFill>
          </a:ln>
        </p:spPr>
        <p:style>
          <a:lnRef idx="2">
            <a:schemeClr val="accent1"/>
          </a:lnRef>
          <a:fillRef idx="0">
            <a:schemeClr val="accent1"/>
          </a:fillRef>
          <a:effectRef idx="1">
            <a:schemeClr val="accent1"/>
          </a:effectRef>
          <a:fontRef idx="minor">
            <a:schemeClr val="tx1"/>
          </a:fontRef>
        </p:style>
      </p:cxnSp>
      <p:sp>
        <p:nvSpPr>
          <p:cNvPr id="27" name="Rounded Rectangle 26"/>
          <p:cNvSpPr/>
          <p:nvPr/>
        </p:nvSpPr>
        <p:spPr>
          <a:xfrm>
            <a:off x="640080" y="4160520"/>
            <a:ext cx="1078992" cy="548640"/>
          </a:xfrm>
          <a:prstGeom prst="roundRect">
            <a:avLst>
              <a:gd name="adj" fmla="val 12000"/>
            </a:avLst>
          </a:prstGeom>
          <a:solidFill>
            <a:srgbClr val="1E1E1E"/>
          </a:solidFill>
          <a:ln w="12700">
            <a:solidFill>
              <a:srgbClr val="1DB954"/>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00" b="1">
                <a:solidFill>
                  <a:srgbClr val="FFFFFF"/>
                </a:solidFill>
              </a:rPr>
              <a:t>Steward User</a:t>
            </a:r>
          </a:p>
          <a:p>
            <a:pPr algn="ctr"/>
            <a:r>
              <a:rPr sz="750">
                <a:solidFill>
                  <a:srgbClr val="B3B3B3"/>
                </a:solidFill>
              </a:rPr>
              <a:t>relais BU</a:t>
            </a:r>
          </a:p>
        </p:txBody>
      </p:sp>
      <p:cxnSp>
        <p:nvCxnSpPr>
          <p:cNvPr id="28" name="Connector 27"/>
          <p:cNvCxnSpPr/>
          <p:nvPr/>
        </p:nvCxnSpPr>
        <p:spPr>
          <a:xfrm>
            <a:off x="2350008" y="3950208"/>
            <a:ext cx="0" cy="210312"/>
          </a:xfrm>
          <a:prstGeom prst="line">
            <a:avLst/>
          </a:prstGeom>
          <a:ln w="15875">
            <a:solidFill>
              <a:srgbClr val="B3B3B3"/>
            </a:solidFill>
          </a:ln>
        </p:spPr>
        <p:style>
          <a:lnRef idx="2">
            <a:schemeClr val="accent1"/>
          </a:lnRef>
          <a:fillRef idx="0">
            <a:schemeClr val="accent1"/>
          </a:fillRef>
          <a:effectRef idx="1">
            <a:schemeClr val="accent1"/>
          </a:effectRef>
          <a:fontRef idx="minor">
            <a:schemeClr val="tx1"/>
          </a:fontRef>
        </p:style>
      </p:cxnSp>
      <p:sp>
        <p:nvSpPr>
          <p:cNvPr id="29" name="Rounded Rectangle 28"/>
          <p:cNvSpPr/>
          <p:nvPr/>
        </p:nvSpPr>
        <p:spPr>
          <a:xfrm>
            <a:off x="1810512" y="4160520"/>
            <a:ext cx="1078992" cy="548640"/>
          </a:xfrm>
          <a:prstGeom prst="roundRect">
            <a:avLst>
              <a:gd name="adj" fmla="val 12000"/>
            </a:avLst>
          </a:prstGeom>
          <a:solidFill>
            <a:srgbClr val="1E1E1E"/>
          </a:solidFill>
          <a:ln w="12700">
            <a:solidFill>
              <a:srgbClr val="1DB954"/>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00" b="1">
                <a:solidFill>
                  <a:srgbClr val="FFFFFF"/>
                </a:solidFill>
              </a:rPr>
              <a:t>Steward Content</a:t>
            </a:r>
          </a:p>
          <a:p>
            <a:pPr algn="ctr"/>
            <a:r>
              <a:rPr sz="750">
                <a:solidFill>
                  <a:srgbClr val="B3B3B3"/>
                </a:solidFill>
              </a:rPr>
              <a:t>relais BU</a:t>
            </a:r>
          </a:p>
        </p:txBody>
      </p:sp>
      <p:cxnSp>
        <p:nvCxnSpPr>
          <p:cNvPr id="30" name="Connector 29"/>
          <p:cNvCxnSpPr/>
          <p:nvPr/>
        </p:nvCxnSpPr>
        <p:spPr>
          <a:xfrm>
            <a:off x="3520439" y="3950208"/>
            <a:ext cx="0" cy="210312"/>
          </a:xfrm>
          <a:prstGeom prst="line">
            <a:avLst/>
          </a:prstGeom>
          <a:ln w="15875">
            <a:solidFill>
              <a:srgbClr val="B3B3B3"/>
            </a:solidFill>
          </a:ln>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2980944" y="4160520"/>
            <a:ext cx="1078992" cy="548640"/>
          </a:xfrm>
          <a:prstGeom prst="roundRect">
            <a:avLst>
              <a:gd name="adj" fmla="val 12000"/>
            </a:avLst>
          </a:prstGeom>
          <a:solidFill>
            <a:srgbClr val="1E1E1E"/>
          </a:solidFill>
          <a:ln w="12700">
            <a:solidFill>
              <a:srgbClr val="1DB954"/>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00" b="1">
                <a:solidFill>
                  <a:srgbClr val="FFFFFF"/>
                </a:solidFill>
              </a:rPr>
              <a:t>Steward Payments</a:t>
            </a:r>
          </a:p>
          <a:p>
            <a:pPr algn="ctr"/>
            <a:r>
              <a:rPr sz="750">
                <a:solidFill>
                  <a:srgbClr val="B3B3B3"/>
                </a:solidFill>
              </a:rPr>
              <a:t>relais BU</a:t>
            </a:r>
          </a:p>
        </p:txBody>
      </p:sp>
      <p:cxnSp>
        <p:nvCxnSpPr>
          <p:cNvPr id="32" name="Connector 31"/>
          <p:cNvCxnSpPr/>
          <p:nvPr/>
        </p:nvCxnSpPr>
        <p:spPr>
          <a:xfrm>
            <a:off x="4690872" y="3950208"/>
            <a:ext cx="0" cy="210312"/>
          </a:xfrm>
          <a:prstGeom prst="line">
            <a:avLst/>
          </a:prstGeom>
          <a:ln w="15875">
            <a:solidFill>
              <a:srgbClr val="B3B3B3"/>
            </a:solidFill>
          </a:ln>
        </p:spPr>
        <p:style>
          <a:lnRef idx="2">
            <a:schemeClr val="accent1"/>
          </a:lnRef>
          <a:fillRef idx="0">
            <a:schemeClr val="accent1"/>
          </a:fillRef>
          <a:effectRef idx="1">
            <a:schemeClr val="accent1"/>
          </a:effectRef>
          <a:fontRef idx="minor">
            <a:schemeClr val="tx1"/>
          </a:fontRef>
        </p:style>
      </p:cxnSp>
      <p:sp>
        <p:nvSpPr>
          <p:cNvPr id="33" name="Rounded Rectangle 32"/>
          <p:cNvSpPr/>
          <p:nvPr/>
        </p:nvSpPr>
        <p:spPr>
          <a:xfrm>
            <a:off x="4151376" y="4160520"/>
            <a:ext cx="1078992" cy="548640"/>
          </a:xfrm>
          <a:prstGeom prst="roundRect">
            <a:avLst>
              <a:gd name="adj" fmla="val 12000"/>
            </a:avLst>
          </a:prstGeom>
          <a:solidFill>
            <a:srgbClr val="1E1E1E"/>
          </a:solidFill>
          <a:ln w="12700">
            <a:solidFill>
              <a:srgbClr val="1DB954"/>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00" b="1">
                <a:solidFill>
                  <a:srgbClr val="FFFFFF"/>
                </a:solidFill>
              </a:rPr>
              <a:t>Steward Ads</a:t>
            </a:r>
          </a:p>
          <a:p>
            <a:pPr algn="ctr"/>
            <a:r>
              <a:rPr sz="750">
                <a:solidFill>
                  <a:srgbClr val="B3B3B3"/>
                </a:solidFill>
              </a:rPr>
              <a:t>relais BU</a:t>
            </a:r>
          </a:p>
        </p:txBody>
      </p:sp>
      <p:cxnSp>
        <p:nvCxnSpPr>
          <p:cNvPr id="34" name="Connector 33"/>
          <p:cNvCxnSpPr/>
          <p:nvPr/>
        </p:nvCxnSpPr>
        <p:spPr>
          <a:xfrm>
            <a:off x="5861304" y="3950208"/>
            <a:ext cx="0" cy="210312"/>
          </a:xfrm>
          <a:prstGeom prst="line">
            <a:avLst/>
          </a:prstGeom>
          <a:ln w="15875">
            <a:solidFill>
              <a:srgbClr val="B3B3B3"/>
            </a:solidFill>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5321808" y="4160520"/>
            <a:ext cx="1078992" cy="548640"/>
          </a:xfrm>
          <a:prstGeom prst="roundRect">
            <a:avLst>
              <a:gd name="adj" fmla="val 12000"/>
            </a:avLst>
          </a:prstGeom>
          <a:solidFill>
            <a:srgbClr val="1E1E1E"/>
          </a:solidFill>
          <a:ln w="12700">
            <a:solidFill>
              <a:srgbClr val="1DB954"/>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00" b="1">
                <a:solidFill>
                  <a:srgbClr val="FFFFFF"/>
                </a:solidFill>
              </a:rPr>
              <a:t>Steward Marketing</a:t>
            </a:r>
          </a:p>
          <a:p>
            <a:pPr algn="ctr"/>
            <a:r>
              <a:rPr sz="750">
                <a:solidFill>
                  <a:srgbClr val="B3B3B3"/>
                </a:solidFill>
              </a:rPr>
              <a:t>relais BU</a:t>
            </a:r>
          </a:p>
        </p:txBody>
      </p:sp>
      <p:sp>
        <p:nvSpPr>
          <p:cNvPr id="36" name="Rounded Rectangle 35"/>
          <p:cNvSpPr/>
          <p:nvPr/>
        </p:nvSpPr>
        <p:spPr>
          <a:xfrm>
            <a:off x="6492240" y="4160520"/>
            <a:ext cx="2103120" cy="548640"/>
          </a:xfrm>
          <a:prstGeom prst="roundRect">
            <a:avLst>
              <a:gd name="adj" fmla="val 12000"/>
            </a:avLst>
          </a:prstGeom>
          <a:solidFill>
            <a:srgbClr val="1E1E1E"/>
          </a:solidFill>
          <a:ln w="12700">
            <a:solidFill>
              <a:srgbClr val="B3B3B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100" b="1">
                <a:solidFill>
                  <a:srgbClr val="FFFFFF"/>
                </a:solidFill>
              </a:rPr>
              <a:t>Data Engineers</a:t>
            </a:r>
          </a:p>
          <a:p>
            <a:pPr algn="ctr"/>
            <a:r>
              <a:rPr sz="850">
                <a:solidFill>
                  <a:srgbClr val="B3B3B3"/>
                </a:solidFill>
              </a:rPr>
              <a:t>pipelines, chiffrement, effacement</a:t>
            </a:r>
          </a:p>
        </p:txBody>
      </p:sp>
      <p:cxnSp>
        <p:nvCxnSpPr>
          <p:cNvPr id="37" name="Connector 36"/>
          <p:cNvCxnSpPr/>
          <p:nvPr/>
        </p:nvCxnSpPr>
        <p:spPr>
          <a:xfrm>
            <a:off x="7543800" y="3767328"/>
            <a:ext cx="0" cy="393192"/>
          </a:xfrm>
          <a:prstGeom prst="line">
            <a:avLst/>
          </a:prstGeom>
          <a:ln w="15875">
            <a:solidFill>
              <a:srgbClr val="B3B3B3"/>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6400800" y="4434840"/>
            <a:ext cx="91440" cy="0"/>
          </a:xfrm>
          <a:prstGeom prst="line">
            <a:avLst/>
          </a:prstGeom>
          <a:ln w="15875">
            <a:solidFill>
              <a:srgbClr val="1DB954"/>
            </a:solidFill>
            <a:prstDash val="dash"/>
          </a:ln>
        </p:spPr>
        <p:style>
          <a:lnRef idx="2">
            <a:schemeClr val="accent1"/>
          </a:lnRef>
          <a:fillRef idx="0">
            <a:schemeClr val="accent1"/>
          </a:fillRef>
          <a:effectRef idx="1">
            <a:schemeClr val="accent1"/>
          </a:effectRef>
          <a:fontRef idx="minor">
            <a:schemeClr val="tx1"/>
          </a:fontRef>
        </p:style>
      </p:cxnSp>
      <p:sp>
        <p:nvSpPr>
          <p:cNvPr id="39" name="Rounded Rectangle 38"/>
          <p:cNvSpPr/>
          <p:nvPr/>
        </p:nvSpPr>
        <p:spPr>
          <a:xfrm>
            <a:off x="9281160" y="3200400"/>
            <a:ext cx="2103120" cy="960120"/>
          </a:xfrm>
          <a:prstGeom prst="roundRect">
            <a:avLst>
              <a:gd name="adj" fmla="val 12000"/>
            </a:avLst>
          </a:prstGeom>
          <a:solidFill>
            <a:srgbClr val="1E1E1E"/>
          </a:solidFill>
          <a:ln w="12700">
            <a:solidFill>
              <a:srgbClr val="B3B3B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100" b="1">
                <a:solidFill>
                  <a:srgbClr val="FFFFFF"/>
                </a:solidFill>
              </a:rPr>
              <a:t>Parties prenantes</a:t>
            </a:r>
          </a:p>
          <a:p>
            <a:pPr algn="ctr"/>
            <a:r>
              <a:rPr sz="800">
                <a:solidFill>
                  <a:srgbClr val="B3B3B3"/>
                </a:solidFill>
              </a:rPr>
              <a:t>Marketing Director · Product Managers · Department Heads · privacy by design</a:t>
            </a:r>
          </a:p>
        </p:txBody>
      </p:sp>
      <p:sp>
        <p:nvSpPr>
          <p:cNvPr id="40" name="Rounded Rectangle 39"/>
          <p:cNvSpPr/>
          <p:nvPr/>
        </p:nvSpPr>
        <p:spPr>
          <a:xfrm>
            <a:off x="640080" y="5166360"/>
            <a:ext cx="10881360" cy="530352"/>
          </a:xfrm>
          <a:prstGeom prst="roundRect">
            <a:avLst>
              <a:gd name="adj" fmla="val 12000"/>
            </a:avLst>
          </a:prstGeom>
          <a:solidFill>
            <a:srgbClr val="0A522E"/>
          </a:solidFill>
          <a:ln w="12700">
            <a:solidFill>
              <a:srgbClr val="1DB954"/>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100" b="1">
                <a:solidFill>
                  <a:srgbClr val="FFFFFF"/>
                </a:solidFill>
              </a:rPr>
              <a:t>Data Governance Committee — mensuel, présidé par le CDO</a:t>
            </a:r>
          </a:p>
          <a:p>
            <a:pPr algn="ctr"/>
            <a:r>
              <a:rPr sz="900">
                <a:solidFill>
                  <a:srgbClr val="B3B3B3"/>
                </a:solidFill>
              </a:rPr>
              <a:t>CDO · DPO · Head of Engineering · Marketing Director · Legal · 5 Data Stewards · représentant Product — approuve, arbitre, suit les KPIs, Go/No-Go</a:t>
            </a:r>
          </a:p>
        </p:txBody>
      </p:sp>
      <p:sp>
        <p:nvSpPr>
          <p:cNvPr id="41" name="TextBox 40"/>
          <p:cNvSpPr txBox="1"/>
          <p:nvPr/>
        </p:nvSpPr>
        <p:spPr>
          <a:xfrm>
            <a:off x="640080" y="5769864"/>
            <a:ext cx="2743200" cy="274320"/>
          </a:xfrm>
          <a:prstGeom prst="rect">
            <a:avLst/>
          </a:prstGeom>
          <a:noFill/>
        </p:spPr>
        <p:txBody>
          <a:bodyPr wrap="square" anchor="t" lIns="45720" rIns="45720" tIns="27432" bIns="27432">
            <a:spAutoFit/>
          </a:bodyPr>
          <a:lstStyle/>
          <a:p>
            <a:pPr algn="l"/>
            <a:r>
              <a:rPr sz="900" b="0" i="0">
                <a:solidFill>
                  <a:srgbClr val="1DB954"/>
                </a:solidFill>
              </a:rPr>
              <a:t>Gouvernance (définit, audite)</a:t>
            </a:r>
          </a:p>
        </p:txBody>
      </p:sp>
      <p:sp>
        <p:nvSpPr>
          <p:cNvPr id="42" name="TextBox 41"/>
          <p:cNvSpPr txBox="1"/>
          <p:nvPr/>
        </p:nvSpPr>
        <p:spPr>
          <a:xfrm>
            <a:off x="3383280" y="5769864"/>
            <a:ext cx="4572000" cy="274320"/>
          </a:xfrm>
          <a:prstGeom prst="rect">
            <a:avLst/>
          </a:prstGeom>
          <a:noFill/>
        </p:spPr>
        <p:txBody>
          <a:bodyPr wrap="square" anchor="t" lIns="45720" rIns="45720" tIns="27432" bIns="27432">
            <a:spAutoFit/>
          </a:bodyPr>
          <a:lstStyle/>
          <a:p>
            <a:pPr algn="l"/>
            <a:r>
              <a:rPr sz="900" b="0" i="0">
                <a:solidFill>
                  <a:srgbClr val="B3B3B3"/>
                </a:solidFill>
              </a:rPr>
              <a:t>Data management (implémente) — ligne CTO, séparée</a:t>
            </a:r>
          </a:p>
        </p:txBody>
      </p:sp>
      <p:sp>
        <p:nvSpPr>
          <p:cNvPr id="43" name="TextBox 42"/>
          <p:cNvSpPr txBox="1"/>
          <p:nvPr/>
        </p:nvSpPr>
        <p:spPr>
          <a:xfrm>
            <a:off x="8138160" y="5769864"/>
            <a:ext cx="3657600" cy="274320"/>
          </a:xfrm>
          <a:prstGeom prst="rect">
            <a:avLst/>
          </a:prstGeom>
          <a:noFill/>
        </p:spPr>
        <p:txBody>
          <a:bodyPr wrap="square" anchor="t" lIns="45720" rIns="45720" tIns="27432" bIns="27432">
            <a:spAutoFit/>
          </a:bodyPr>
          <a:lstStyle/>
          <a:p>
            <a:pPr algn="l"/>
            <a:r>
              <a:rPr sz="900" b="0" i="0">
                <a:solidFill>
                  <a:srgbClr val="1DB954"/>
                </a:solidFill>
              </a:rPr>
              <a:t>- - -  collaboration formalisée par le RACI</a:t>
            </a:r>
          </a:p>
        </p:txBody>
      </p:sp>
      <p:sp>
        <p:nvSpPr>
          <p:cNvPr id="44" name="TextBox 43"/>
          <p:cNvSpPr txBox="1"/>
          <p:nvPr/>
        </p:nvSpPr>
        <p:spPr>
          <a:xfrm>
            <a:off x="365760" y="6473952"/>
            <a:ext cx="9144000" cy="274320"/>
          </a:xfrm>
          <a:prstGeom prst="rect">
            <a:avLst/>
          </a:prstGeom>
          <a:noFill/>
        </p:spPr>
        <p:txBody>
          <a:bodyPr wrap="square" anchor="t" lIns="45720" rIns="45720" tIns="27432" bIns="27432">
            <a:spAutoFit/>
          </a:bodyPr>
          <a:lstStyle/>
          <a:p>
            <a:pPr algn="l"/>
            <a:r>
              <a:rPr sz="900" b="0" i="0">
                <a:solidFill>
                  <a:srgbClr val="B3B3B3"/>
                </a:solidFill>
              </a:rPr>
              <a:t>Spotify — Data Governance Framework · Emeline ROBLOT — Data Governance Specialist · Septembre 2026</a:t>
            </a:r>
          </a:p>
        </p:txBody>
      </p:sp>
      <p:sp>
        <p:nvSpPr>
          <p:cNvPr id="45" name="TextBox 44"/>
          <p:cNvSpPr txBox="1"/>
          <p:nvPr/>
        </p:nvSpPr>
        <p:spPr>
          <a:xfrm>
            <a:off x="10881360" y="6473952"/>
            <a:ext cx="914400" cy="274320"/>
          </a:xfrm>
          <a:prstGeom prst="rect">
            <a:avLst/>
          </a:prstGeom>
          <a:noFill/>
        </p:spPr>
        <p:txBody>
          <a:bodyPr wrap="square" anchor="t" lIns="45720" rIns="45720" tIns="27432" bIns="27432">
            <a:spAutoFit/>
          </a:bodyPr>
          <a:lstStyle/>
          <a:p>
            <a:pPr algn="r"/>
            <a:r>
              <a:rPr sz="900" b="0" i="0">
                <a:solidFill>
                  <a:srgbClr val="B3B3B3"/>
                </a:solidFill>
              </a:rPr>
              <a:t>1 / 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212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54864"/>
          </a:xfrm>
          <a:prstGeom prst="rect">
            <a:avLst/>
          </a:prstGeom>
          <a:solidFill>
            <a:srgbClr val="1DB9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64592"/>
            <a:ext cx="11430000" cy="731520"/>
          </a:xfrm>
          <a:prstGeom prst="rect">
            <a:avLst/>
          </a:prstGeom>
          <a:noFill/>
        </p:spPr>
        <p:txBody>
          <a:bodyPr wrap="square" anchor="t" lIns="45720" rIns="45720" tIns="27432" bIns="27432">
            <a:spAutoFit/>
          </a:bodyPr>
          <a:lstStyle/>
          <a:p>
            <a:pPr algn="l"/>
            <a:r>
              <a:rPr sz="2800" b="1" i="0">
                <a:solidFill>
                  <a:srgbClr val="1DB954"/>
                </a:solidFill>
              </a:rPr>
              <a:t>Fiches de rôle</a:t>
            </a:r>
          </a:p>
        </p:txBody>
      </p:sp>
      <p:sp>
        <p:nvSpPr>
          <p:cNvPr id="5" name="TextBox 4"/>
          <p:cNvSpPr txBox="1"/>
          <p:nvPr/>
        </p:nvSpPr>
        <p:spPr>
          <a:xfrm>
            <a:off x="365760" y="804672"/>
            <a:ext cx="11430000" cy="411480"/>
          </a:xfrm>
          <a:prstGeom prst="rect">
            <a:avLst/>
          </a:prstGeom>
          <a:noFill/>
        </p:spPr>
        <p:txBody>
          <a:bodyPr wrap="square" anchor="t" lIns="45720" rIns="45720" tIns="27432" bIns="27432">
            <a:spAutoFit/>
          </a:bodyPr>
          <a:lstStyle/>
          <a:p>
            <a:pPr algn="l"/>
            <a:r>
              <a:rPr sz="1300" b="0" i="0">
                <a:solidFill>
                  <a:srgbClr val="B3B3B3"/>
                </a:solidFill>
              </a:rPr>
              <a:t>Source : Data Governance Roles Template — responsabilité principale et tâches clés</a:t>
            </a:r>
          </a:p>
        </p:txBody>
      </p:sp>
      <p:sp>
        <p:nvSpPr>
          <p:cNvPr id="6" name="Rectangle 5"/>
          <p:cNvSpPr/>
          <p:nvPr/>
        </p:nvSpPr>
        <p:spPr>
          <a:xfrm>
            <a:off x="365760" y="1207008"/>
            <a:ext cx="11430000" cy="27432"/>
          </a:xfrm>
          <a:prstGeom prst="rect">
            <a:avLst/>
          </a:prstGeom>
          <a:solidFill>
            <a:srgbClr val="1DB9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Table 6"/>
          <p:cNvGraphicFramePr>
            <a:graphicFrameLocks noGrp="1"/>
          </p:cNvGraphicFramePr>
          <p:nvPr/>
        </p:nvGraphicFramePr>
        <p:xfrm>
          <a:off x="365760" y="1371600"/>
          <a:ext cx="11430000" cy="4389120"/>
        </p:xfrm>
        <a:graphic>
          <a:graphicData uri="http://schemas.openxmlformats.org/drawingml/2006/table">
            <a:tbl>
              <a:tblPr firstRow="1" bandRow="1">
                <a:tableStyleId>{5C22544A-7EE6-4342-B048-85BDC9FD1C3A}</a:tableStyleId>
              </a:tblPr>
              <a:tblGrid>
                <a:gridCol w="2377440"/>
                <a:gridCol w="1737360"/>
                <a:gridCol w="2926080"/>
                <a:gridCol w="4389120"/>
              </a:tblGrid>
              <a:tr h="548640">
                <a:tc>
                  <a:txBody>
                    <a:bodyPr wrap="square"/>
                    <a:lstStyle/>
                    <a:p>
                      <a:r>
                        <a:rPr sz="1050" b="1">
                          <a:solidFill>
                            <a:srgbClr val="FFFFFF"/>
                          </a:solidFill>
                        </a:rPr>
                        <a:t>Rôle</a:t>
                      </a:r>
                    </a:p>
                  </a:txBody>
                  <a:tcPr marL="54864" marR="54864" marT="27432" marB="27432">
                    <a:solidFill>
                      <a:srgbClr val="0A522E"/>
                    </a:solidFill>
                  </a:tcPr>
                </a:tc>
                <a:tc>
                  <a:txBody>
                    <a:bodyPr wrap="square"/>
                    <a:lstStyle/>
                    <a:p>
                      <a:r>
                        <a:rPr sz="1050" b="1">
                          <a:solidFill>
                            <a:srgbClr val="FFFFFF"/>
                          </a:solidFill>
                        </a:rPr>
                        <a:t>Rattachement</a:t>
                      </a:r>
                    </a:p>
                  </a:txBody>
                  <a:tcPr marL="54864" marR="54864" marT="27432" marB="27432">
                    <a:solidFill>
                      <a:srgbClr val="0A522E"/>
                    </a:solidFill>
                  </a:tcPr>
                </a:tc>
                <a:tc>
                  <a:txBody>
                    <a:bodyPr wrap="square"/>
                    <a:lstStyle/>
                    <a:p>
                      <a:r>
                        <a:rPr sz="1050" b="1">
                          <a:solidFill>
                            <a:srgbClr val="FFFFFF"/>
                          </a:solidFill>
                        </a:rPr>
                        <a:t>Responsabilité principale</a:t>
                      </a:r>
                    </a:p>
                  </a:txBody>
                  <a:tcPr marL="54864" marR="54864" marT="27432" marB="27432">
                    <a:solidFill>
                      <a:srgbClr val="0A522E"/>
                    </a:solidFill>
                  </a:tcPr>
                </a:tc>
                <a:tc>
                  <a:txBody>
                    <a:bodyPr wrap="square"/>
                    <a:lstStyle/>
                    <a:p>
                      <a:r>
                        <a:rPr sz="1050" b="1">
                          <a:solidFill>
                            <a:srgbClr val="FFFFFF"/>
                          </a:solidFill>
                        </a:rPr>
                        <a:t>Tâches clés</a:t>
                      </a:r>
                    </a:p>
                  </a:txBody>
                  <a:tcPr marL="54864" marR="54864" marT="27432" marB="27432">
                    <a:solidFill>
                      <a:srgbClr val="0A522E"/>
                    </a:solidFill>
                  </a:tcPr>
                </a:tc>
              </a:tr>
              <a:tr h="548640">
                <a:tc>
                  <a:txBody>
                    <a:bodyPr wrap="square"/>
                    <a:lstStyle/>
                    <a:p>
                      <a:r>
                        <a:rPr sz="1050" b="1">
                          <a:solidFill>
                            <a:srgbClr val="1DB954"/>
                          </a:solidFill>
                        </a:rPr>
                        <a:t>Chief Data Officer</a:t>
                      </a:r>
                    </a:p>
                  </a:txBody>
                  <a:tcPr marL="54864" marR="54864" marT="27432" marB="27432">
                    <a:solidFill>
                      <a:srgbClr val="1E1E1E"/>
                    </a:solidFill>
                  </a:tcPr>
                </a:tc>
                <a:tc>
                  <a:txBody>
                    <a:bodyPr wrap="square"/>
                    <a:lstStyle/>
                    <a:p>
                      <a:r>
                        <a:rPr sz="1050" b="0">
                          <a:solidFill>
                            <a:srgbClr val="FFFFFF"/>
                          </a:solidFill>
                        </a:rPr>
                        <a:t>CEO</a:t>
                      </a:r>
                    </a:p>
                  </a:txBody>
                  <a:tcPr marL="54864" marR="54864" marT="27432" marB="27432">
                    <a:solidFill>
                      <a:srgbClr val="1E1E1E"/>
                    </a:solidFill>
                  </a:tcPr>
                </a:tc>
                <a:tc>
                  <a:txBody>
                    <a:bodyPr wrap="square"/>
                    <a:lstStyle/>
                    <a:p>
                      <a:r>
                        <a:rPr sz="1050" b="0">
                          <a:solidFill>
                            <a:srgbClr val="FFFFFF"/>
                          </a:solidFill>
                        </a:rPr>
                        <a:t>Diriger la stratégie et la gouvernance des données</a:t>
                      </a:r>
                    </a:p>
                  </a:txBody>
                  <a:tcPr marL="54864" marR="54864" marT="27432" marB="27432">
                    <a:solidFill>
                      <a:srgbClr val="1E1E1E"/>
                    </a:solidFill>
                  </a:tcPr>
                </a:tc>
                <a:tc>
                  <a:txBody>
                    <a:bodyPr wrap="square"/>
                    <a:lstStyle/>
                    <a:p>
                      <a:r>
                        <a:rPr sz="1050" b="0">
                          <a:solidFill>
                            <a:srgbClr val="FFFFFF"/>
                          </a:solidFill>
                        </a:rPr>
                        <a:t>Politiques ; arbitrage inter-domaines ; pilotage du CoE et du Committee ; alignement business ; reporting au comité exécutif</a:t>
                      </a:r>
                    </a:p>
                  </a:txBody>
                  <a:tcPr marL="54864" marR="54864" marT="27432" marB="27432">
                    <a:solidFill>
                      <a:srgbClr val="1E1E1E"/>
                    </a:solidFill>
                  </a:tcPr>
                </a:tc>
              </a:tr>
              <a:tr h="548640">
                <a:tc>
                  <a:txBody>
                    <a:bodyPr wrap="square"/>
                    <a:lstStyle/>
                    <a:p>
                      <a:r>
                        <a:rPr sz="1050" b="1">
                          <a:solidFill>
                            <a:srgbClr val="1DB954"/>
                          </a:solidFill>
                        </a:rPr>
                        <a:t>Data Protection Officer</a:t>
                      </a:r>
                    </a:p>
                  </a:txBody>
                  <a:tcPr marL="54864" marR="54864" marT="27432" marB="27432">
                    <a:solidFill>
                      <a:srgbClr val="2A2A2A"/>
                    </a:solidFill>
                  </a:tcPr>
                </a:tc>
                <a:tc>
                  <a:txBody>
                    <a:bodyPr wrap="square"/>
                    <a:lstStyle/>
                    <a:p>
                      <a:r>
                        <a:rPr sz="1050" b="0">
                          <a:solidFill>
                            <a:srgbClr val="FFFFFF"/>
                          </a:solidFill>
                        </a:rPr>
                        <a:t>CEO (indépendant)</a:t>
                      </a:r>
                    </a:p>
                  </a:txBody>
                  <a:tcPr marL="54864" marR="54864" marT="27432" marB="27432">
                    <a:solidFill>
                      <a:srgbClr val="2A2A2A"/>
                    </a:solidFill>
                  </a:tcPr>
                </a:tc>
                <a:tc>
                  <a:txBody>
                    <a:bodyPr wrap="square"/>
                    <a:lstStyle/>
                    <a:p>
                      <a:r>
                        <a:rPr sz="1050" b="0">
                          <a:solidFill>
                            <a:srgbClr val="FFFFFF"/>
                          </a:solidFill>
                        </a:rPr>
                        <a:t>Garantir la conformité GDPR, CCPA et réglementations locales</a:t>
                      </a:r>
                    </a:p>
                  </a:txBody>
                  <a:tcPr marL="54864" marR="54864" marT="27432" marB="27432">
                    <a:solidFill>
                      <a:srgbClr val="2A2A2A"/>
                    </a:solidFill>
                  </a:tcPr>
                </a:tc>
                <a:tc>
                  <a:txBody>
                    <a:bodyPr wrap="square"/>
                    <a:lstStyle/>
                    <a:p>
                      <a:r>
                        <a:rPr sz="1050" b="0">
                          <a:solidFill>
                            <a:srgbClr val="FFFFFF"/>
                          </a:solidFill>
                        </a:rPr>
                        <a:t>Registre des traitements ; DPIA ; contact des autorités ; incidents et notification 72 h ; Privacy Team ; veille avec Legal</a:t>
                      </a:r>
                    </a:p>
                  </a:txBody>
                  <a:tcPr marL="54864" marR="54864" marT="27432" marB="27432">
                    <a:solidFill>
                      <a:srgbClr val="2A2A2A"/>
                    </a:solidFill>
                  </a:tcPr>
                </a:tc>
              </a:tr>
              <a:tr h="548640">
                <a:tc>
                  <a:txBody>
                    <a:bodyPr wrap="square"/>
                    <a:lstStyle/>
                    <a:p>
                      <a:r>
                        <a:rPr sz="1050" b="1">
                          <a:solidFill>
                            <a:srgbClr val="1DB954"/>
                          </a:solidFill>
                        </a:rPr>
                        <a:t>Data Governance Committee</a:t>
                      </a:r>
                    </a:p>
                  </a:txBody>
                  <a:tcPr marL="54864" marR="54864" marT="27432" marB="27432">
                    <a:solidFill>
                      <a:srgbClr val="1E1E1E"/>
                    </a:solidFill>
                  </a:tcPr>
                </a:tc>
                <a:tc>
                  <a:txBody>
                    <a:bodyPr wrap="square"/>
                    <a:lstStyle/>
                    <a:p>
                      <a:r>
                        <a:rPr sz="1050" b="0">
                          <a:solidFill>
                            <a:srgbClr val="FFFFFF"/>
                          </a:solidFill>
                        </a:rPr>
                        <a:t>Présidé par le CDO</a:t>
                      </a:r>
                    </a:p>
                  </a:txBody>
                  <a:tcPr marL="54864" marR="54864" marT="27432" marB="27432">
                    <a:solidFill>
                      <a:srgbClr val="1E1E1E"/>
                    </a:solidFill>
                  </a:tcPr>
                </a:tc>
                <a:tc>
                  <a:txBody>
                    <a:bodyPr wrap="square"/>
                    <a:lstStyle/>
                    <a:p>
                      <a:r>
                        <a:rPr sz="1050" b="0">
                          <a:solidFill>
                            <a:srgbClr val="FFFFFF"/>
                          </a:solidFill>
                        </a:rPr>
                        <a:t>Guider le framework et assurer l'alignement transverse</a:t>
                      </a:r>
                    </a:p>
                  </a:txBody>
                  <a:tcPr marL="54864" marR="54864" marT="27432" marB="27432">
                    <a:solidFill>
                      <a:srgbClr val="1E1E1E"/>
                    </a:solidFill>
                  </a:tcPr>
                </a:tc>
                <a:tc>
                  <a:txBody>
                    <a:bodyPr wrap="square"/>
                    <a:lstStyle/>
                    <a:p>
                      <a:r>
                        <a:rPr sz="1050" b="0">
                          <a:solidFill>
                            <a:srgbClr val="FFFFFF"/>
                          </a:solidFill>
                        </a:rPr>
                        <a:t>Approuver politiques et standards ; sujets inter-départements ; suivi des KPIs ; Go/No-Go des phases</a:t>
                      </a:r>
                    </a:p>
                  </a:txBody>
                  <a:tcPr marL="54864" marR="54864" marT="27432" marB="27432">
                    <a:solidFill>
                      <a:srgbClr val="1E1E1E"/>
                    </a:solidFill>
                  </a:tcPr>
                </a:tc>
              </a:tr>
              <a:tr h="548640">
                <a:tc>
                  <a:txBody>
                    <a:bodyPr wrap="square"/>
                    <a:lstStyle/>
                    <a:p>
                      <a:r>
                        <a:rPr sz="1050" b="1">
                          <a:solidFill>
                            <a:srgbClr val="1DB954"/>
                          </a:solidFill>
                        </a:rPr>
                        <a:t>Data Steward (×5)</a:t>
                      </a:r>
                    </a:p>
                  </a:txBody>
                  <a:tcPr marL="54864" marR="54864" marT="27432" marB="27432">
                    <a:solidFill>
                      <a:srgbClr val="2A2A2A"/>
                    </a:solidFill>
                  </a:tcPr>
                </a:tc>
                <a:tc>
                  <a:txBody>
                    <a:bodyPr wrap="square"/>
                    <a:lstStyle/>
                    <a:p>
                      <a:r>
                        <a:rPr sz="1050" b="0">
                          <a:solidFill>
                            <a:srgbClr val="FFFFFF"/>
                          </a:solidFill>
                        </a:rPr>
                        <a:t>CoE + business unit</a:t>
                      </a:r>
                    </a:p>
                  </a:txBody>
                  <a:tcPr marL="54864" marR="54864" marT="27432" marB="27432">
                    <a:solidFill>
                      <a:srgbClr val="2A2A2A"/>
                    </a:solidFill>
                  </a:tcPr>
                </a:tc>
                <a:tc>
                  <a:txBody>
                    <a:bodyPr wrap="square"/>
                    <a:lstStyle/>
                    <a:p>
                      <a:r>
                        <a:rPr sz="1050" b="0">
                          <a:solidFill>
                            <a:srgbClr val="FFFFFF"/>
                          </a:solidFill>
                        </a:rPr>
                        <a:t>Superviser les pratiques data de son domaine</a:t>
                      </a:r>
                    </a:p>
                  </a:txBody>
                  <a:tcPr marL="54864" marR="54864" marT="27432" marB="27432">
                    <a:solidFill>
                      <a:srgbClr val="2A2A2A"/>
                    </a:solidFill>
                  </a:tcPr>
                </a:tc>
                <a:tc>
                  <a:txBody>
                    <a:bodyPr wrap="square"/>
                    <a:lstStyle/>
                    <a:p>
                      <a:r>
                        <a:rPr sz="1050" b="0">
                          <a:solidFill>
                            <a:srgbClr val="FFFFFF"/>
                          </a:solidFill>
                        </a:rPr>
                        <a:t>Qualité, classification, rétention ; accès ; catalogue ; application de la politique ; reporting mensuel</a:t>
                      </a:r>
                    </a:p>
                  </a:txBody>
                  <a:tcPr marL="54864" marR="54864" marT="27432" marB="27432">
                    <a:solidFill>
                      <a:srgbClr val="2A2A2A"/>
                    </a:solidFill>
                  </a:tcPr>
                </a:tc>
              </a:tr>
              <a:tr h="548640">
                <a:tc>
                  <a:txBody>
                    <a:bodyPr wrap="square"/>
                    <a:lstStyle/>
                    <a:p>
                      <a:r>
                        <a:rPr sz="1050" b="1">
                          <a:solidFill>
                            <a:srgbClr val="1DB954"/>
                          </a:solidFill>
                        </a:rPr>
                        <a:t>Head of Engineering</a:t>
                      </a:r>
                    </a:p>
                  </a:txBody>
                  <a:tcPr marL="54864" marR="54864" marT="27432" marB="27432">
                    <a:solidFill>
                      <a:srgbClr val="1E1E1E"/>
                    </a:solidFill>
                  </a:tcPr>
                </a:tc>
                <a:tc>
                  <a:txBody>
                    <a:bodyPr wrap="square"/>
                    <a:lstStyle/>
                    <a:p>
                      <a:r>
                        <a:rPr sz="1050" b="0">
                          <a:solidFill>
                            <a:srgbClr val="FFFFFF"/>
                          </a:solidFill>
                        </a:rPr>
                        <a:t>CTO</a:t>
                      </a:r>
                    </a:p>
                  </a:txBody>
                  <a:tcPr marL="54864" marR="54864" marT="27432" marB="27432">
                    <a:solidFill>
                      <a:srgbClr val="1E1E1E"/>
                    </a:solidFill>
                  </a:tcPr>
                </a:tc>
                <a:tc>
                  <a:txBody>
                    <a:bodyPr wrap="square"/>
                    <a:lstStyle/>
                    <a:p>
                      <a:r>
                        <a:rPr sz="1050" b="0">
                          <a:solidFill>
                            <a:srgbClr val="FFFFFF"/>
                          </a:solidFill>
                        </a:rPr>
                        <a:t>Implémenter les contrôles techniques</a:t>
                      </a:r>
                    </a:p>
                  </a:txBody>
                  <a:tcPr marL="54864" marR="54864" marT="27432" marB="27432">
                    <a:solidFill>
                      <a:srgbClr val="1E1E1E"/>
                    </a:solidFill>
                  </a:tcPr>
                </a:tc>
                <a:tc>
                  <a:txBody>
                    <a:bodyPr wrap="square"/>
                    <a:lstStyle/>
                    <a:p>
                      <a:r>
                        <a:rPr sz="1050" b="0">
                          <a:solidFill>
                            <a:srgbClr val="FFFFFF"/>
                          </a:solidFill>
                        </a:rPr>
                        <a:t>Pipelines, chiffrement, SIEM, pipeline d'effacement, scalabilité</a:t>
                      </a:r>
                    </a:p>
                  </a:txBody>
                  <a:tcPr marL="54864" marR="54864" marT="27432" marB="27432">
                    <a:solidFill>
                      <a:srgbClr val="1E1E1E"/>
                    </a:solidFill>
                  </a:tcPr>
                </a:tc>
              </a:tr>
              <a:tr h="548640">
                <a:tc>
                  <a:txBody>
                    <a:bodyPr wrap="square"/>
                    <a:lstStyle/>
                    <a:p>
                      <a:r>
                        <a:rPr sz="1050" b="1">
                          <a:solidFill>
                            <a:srgbClr val="1DB954"/>
                          </a:solidFill>
                        </a:rPr>
                        <a:t>Legal · Marketing Dir. · Product Managers</a:t>
                      </a:r>
                    </a:p>
                  </a:txBody>
                  <a:tcPr marL="54864" marR="54864" marT="27432" marB="27432">
                    <a:solidFill>
                      <a:srgbClr val="2A2A2A"/>
                    </a:solidFill>
                  </a:tcPr>
                </a:tc>
                <a:tc>
                  <a:txBody>
                    <a:bodyPr wrap="square"/>
                    <a:lstStyle/>
                    <a:p>
                      <a:r>
                        <a:rPr sz="1050" b="0">
                          <a:solidFill>
                            <a:srgbClr val="FFFFFF"/>
                          </a:solidFill>
                        </a:rPr>
                        <a:t>Parties prenantes</a:t>
                      </a:r>
                    </a:p>
                  </a:txBody>
                  <a:tcPr marL="54864" marR="54864" marT="27432" marB="27432">
                    <a:solidFill>
                      <a:srgbClr val="2A2A2A"/>
                    </a:solidFill>
                  </a:tcPr>
                </a:tc>
                <a:tc>
                  <a:txBody>
                    <a:bodyPr wrap="square"/>
                    <a:lstStyle/>
                    <a:p>
                      <a:r>
                        <a:rPr sz="1050" b="0">
                          <a:solidFill>
                            <a:srgbClr val="FFFFFF"/>
                          </a:solidFill>
                        </a:rPr>
                        <a:t>Conformité de leurs périmètres</a:t>
                      </a:r>
                    </a:p>
                  </a:txBody>
                  <a:tcPr marL="54864" marR="54864" marT="27432" marB="27432">
                    <a:solidFill>
                      <a:srgbClr val="2A2A2A"/>
                    </a:solidFill>
                  </a:tcPr>
                </a:tc>
                <a:tc>
                  <a:txBody>
                    <a:bodyPr wrap="square"/>
                    <a:lstStyle/>
                    <a:p>
                      <a:r>
                        <a:rPr sz="1050" b="0">
                          <a:solidFill>
                            <a:srgbClr val="FFFFFF"/>
                          </a:solidFill>
                        </a:rPr>
                        <a:t>Validation juridique ; conformité des campagnes ; privacy by design et DPIA sur chaque feature</a:t>
                      </a:r>
                    </a:p>
                  </a:txBody>
                  <a:tcPr marL="54864" marR="54864" marT="27432" marB="27432">
                    <a:solidFill>
                      <a:srgbClr val="2A2A2A"/>
                    </a:solidFill>
                  </a:tcPr>
                </a:tc>
              </a:tr>
              <a:tr h="548640">
                <a:tc>
                  <a:txBody>
                    <a:bodyPr wrap="square"/>
                    <a:lstStyle/>
                    <a:p>
                      <a:r>
                        <a:rPr sz="1050" b="1">
                          <a:solidFill>
                            <a:srgbClr val="1DB954"/>
                          </a:solidFill>
                        </a:rPr>
                        <a:t>Privacy Team</a:t>
                      </a:r>
                    </a:p>
                  </a:txBody>
                  <a:tcPr marL="54864" marR="54864" marT="27432" marB="27432">
                    <a:solidFill>
                      <a:srgbClr val="1E1E1E"/>
                    </a:solidFill>
                  </a:tcPr>
                </a:tc>
                <a:tc>
                  <a:txBody>
                    <a:bodyPr wrap="square"/>
                    <a:lstStyle/>
                    <a:p>
                      <a:r>
                        <a:rPr sz="1050" b="0">
                          <a:solidFill>
                            <a:srgbClr val="FFFFFF"/>
                          </a:solidFill>
                        </a:rPr>
                        <a:t>DPO</a:t>
                      </a:r>
                    </a:p>
                  </a:txBody>
                  <a:tcPr marL="54864" marR="54864" marT="27432" marB="27432">
                    <a:solidFill>
                      <a:srgbClr val="1E1E1E"/>
                    </a:solidFill>
                  </a:tcPr>
                </a:tc>
                <a:tc>
                  <a:txBody>
                    <a:bodyPr wrap="square"/>
                    <a:lstStyle/>
                    <a:p>
                      <a:r>
                        <a:rPr sz="1050" b="0">
                          <a:solidFill>
                            <a:srgbClr val="FFFFFF"/>
                          </a:solidFill>
                        </a:rPr>
                        <a:t>Traiter les demandes des personnes</a:t>
                      </a:r>
                    </a:p>
                  </a:txBody>
                  <a:tcPr marL="54864" marR="54864" marT="27432" marB="27432">
                    <a:solidFill>
                      <a:srgbClr val="1E1E1E"/>
                    </a:solidFill>
                  </a:tcPr>
                </a:tc>
                <a:tc>
                  <a:txBody>
                    <a:bodyPr wrap="square"/>
                    <a:lstStyle/>
                    <a:p>
                      <a:r>
                        <a:rPr sz="1050" b="0">
                          <a:solidFill>
                            <a:srgbClr val="FFFFFF"/>
                          </a:solidFill>
                        </a:rPr>
                        <a:t>2 analystes ; SLA 1 mois GDPR, 45 j CCPA ; journal des demandes</a:t>
                      </a:r>
                    </a:p>
                  </a:txBody>
                  <a:tcPr marL="54864" marR="54864" marT="27432" marB="27432">
                    <a:solidFill>
                      <a:srgbClr val="1E1E1E"/>
                    </a:solidFill>
                  </a:tcPr>
                </a:tc>
              </a:tr>
            </a:tbl>
          </a:graphicData>
        </a:graphic>
      </p:graphicFrame>
      <p:sp>
        <p:nvSpPr>
          <p:cNvPr id="8" name="TextBox 7"/>
          <p:cNvSpPr txBox="1"/>
          <p:nvPr/>
        </p:nvSpPr>
        <p:spPr>
          <a:xfrm>
            <a:off x="365760" y="5897880"/>
            <a:ext cx="11430000" cy="502920"/>
          </a:xfrm>
          <a:prstGeom prst="rect">
            <a:avLst/>
          </a:prstGeom>
          <a:noFill/>
        </p:spPr>
        <p:txBody>
          <a:bodyPr wrap="square" anchor="t" lIns="45720" rIns="45720" tIns="27432" bIns="27432">
            <a:spAutoFit/>
          </a:bodyPr>
          <a:lstStyle/>
          <a:p>
            <a:pPr algn="l"/>
            <a:r>
              <a:rPr sz="1050" b="0" i="0">
                <a:solidFill>
                  <a:srgbClr val="B3B3B3"/>
                </a:solidFill>
              </a:rPr>
              <a:t>Data Governance Committee — mensuel, 60 min : KPIs qualité par domaine · incidents et demandes des personnes · nouveaux traitements / DPIA · avancement du plan · audits de biais · décisions</a:t>
            </a:r>
          </a:p>
        </p:txBody>
      </p:sp>
      <p:sp>
        <p:nvSpPr>
          <p:cNvPr id="9" name="TextBox 8"/>
          <p:cNvSpPr txBox="1"/>
          <p:nvPr/>
        </p:nvSpPr>
        <p:spPr>
          <a:xfrm>
            <a:off x="365760" y="6473952"/>
            <a:ext cx="9144000" cy="274320"/>
          </a:xfrm>
          <a:prstGeom prst="rect">
            <a:avLst/>
          </a:prstGeom>
          <a:noFill/>
        </p:spPr>
        <p:txBody>
          <a:bodyPr wrap="square" anchor="t" lIns="45720" rIns="45720" tIns="27432" bIns="27432">
            <a:spAutoFit/>
          </a:bodyPr>
          <a:lstStyle/>
          <a:p>
            <a:pPr algn="l"/>
            <a:r>
              <a:rPr sz="900" b="0" i="0">
                <a:solidFill>
                  <a:srgbClr val="B3B3B3"/>
                </a:solidFill>
              </a:rPr>
              <a:t>Spotify — Data Governance Framework · Emeline ROBLOT — Data Governance Specialist · Septembre 2026</a:t>
            </a:r>
          </a:p>
        </p:txBody>
      </p:sp>
      <p:sp>
        <p:nvSpPr>
          <p:cNvPr id="10" name="TextBox 9"/>
          <p:cNvSpPr txBox="1"/>
          <p:nvPr/>
        </p:nvSpPr>
        <p:spPr>
          <a:xfrm>
            <a:off x="10881360" y="6473952"/>
            <a:ext cx="914400" cy="274320"/>
          </a:xfrm>
          <a:prstGeom prst="rect">
            <a:avLst/>
          </a:prstGeom>
          <a:noFill/>
        </p:spPr>
        <p:txBody>
          <a:bodyPr wrap="square" anchor="t" lIns="45720" rIns="45720" tIns="27432" bIns="27432">
            <a:spAutoFit/>
          </a:bodyPr>
          <a:lstStyle/>
          <a:p>
            <a:pPr algn="r"/>
            <a:r>
              <a:rPr sz="900" b="0" i="0">
                <a:solidFill>
                  <a:srgbClr val="B3B3B3"/>
                </a:solidFill>
              </a:rPr>
              <a:t>2 / 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