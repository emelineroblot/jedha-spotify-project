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63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DB954"/>
                </a:solidFill>
              </a:rPr>
              <a:t>🎧 Spotify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Data Governance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3B3B3"/>
                </a:solidFill>
              </a:rPr>
              <a:t>Qualité · Conformité · Confiance — à l'échelle mondiale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356616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3566160" cy="9144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DB954"/>
                </a:solidFill>
              </a:rPr>
              <a:t>450M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3B3B3"/>
                </a:solidFill>
              </a:rPr>
              <a:t>utilisateurs actifs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108960"/>
            <a:ext cx="356616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3108960"/>
            <a:ext cx="3566160" cy="9144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32004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DB954"/>
                </a:solidFill>
              </a:rPr>
              <a:t>200M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931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3B3B3"/>
                </a:solidFill>
              </a:rPr>
              <a:t>abonnés premium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108960"/>
            <a:ext cx="3566160" cy="14630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3108960"/>
            <a:ext cx="3566160" cy="9144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320040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DB954"/>
                </a:solidFill>
              </a:rPr>
              <a:t>180+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931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3B3B3"/>
                </a:solidFill>
              </a:rPr>
              <a:t>pays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806440"/>
            <a:ext cx="12188952" cy="777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604131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B3B3B3"/>
                </a:solidFill>
              </a:rPr>
              <a:t>Présentation</a:t>
            </a:r>
            <a:r>
              <a:rPr sz="1200" b="0" dirty="0">
                <a:solidFill>
                  <a:srgbClr val="B3B3B3"/>
                </a:solidFill>
              </a:rPr>
              <a:t> executive — Mai 2026  |  Data Governance Specialist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041317"/>
            <a:ext cx="228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200" b="1" dirty="0" smtClean="0">
                <a:solidFill>
                  <a:srgbClr val="1DB954"/>
                </a:solidFill>
              </a:rPr>
              <a:t>Emeline ROBLOT</a:t>
            </a:r>
            <a:endParaRPr sz="1200" b="1" dirty="0">
              <a:solidFill>
                <a:srgbClr val="1DB954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4789843"/>
            <a:ext cx="11247120" cy="68580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988859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64B5F6"/>
                </a:solidFill>
              </a:rPr>
              <a:t>Score de </a:t>
            </a:r>
            <a:r>
              <a:rPr sz="1100" b="0" dirty="0" err="1">
                <a:solidFill>
                  <a:srgbClr val="64B5F6"/>
                </a:solidFill>
              </a:rPr>
              <a:t>maturité</a:t>
            </a:r>
            <a:r>
              <a:rPr sz="1100" b="0" dirty="0">
                <a:solidFill>
                  <a:srgbClr val="64B5F6"/>
                </a:solidFill>
              </a:rPr>
              <a:t> data </a:t>
            </a:r>
            <a:r>
              <a:rPr sz="1100" b="0" dirty="0" err="1">
                <a:solidFill>
                  <a:srgbClr val="64B5F6"/>
                </a:solidFill>
              </a:rPr>
              <a:t>actuel</a:t>
            </a:r>
            <a:r>
              <a:rPr sz="1100" b="0" dirty="0">
                <a:solidFill>
                  <a:srgbClr val="64B5F6"/>
                </a:solidFill>
              </a:rPr>
              <a:t> : 3,4/5  →  </a:t>
            </a:r>
            <a:r>
              <a:rPr sz="1100" b="0" dirty="0" err="1">
                <a:solidFill>
                  <a:srgbClr val="64B5F6"/>
                </a:solidFill>
              </a:rPr>
              <a:t>Cible</a:t>
            </a:r>
            <a:r>
              <a:rPr sz="1100" b="0" dirty="0">
                <a:solidFill>
                  <a:srgbClr val="64B5F6"/>
                </a:solidFill>
              </a:rPr>
              <a:t> M12 : 4,2/5  |  Dimensions critiques : Governance (2/5) · Compliance (3/5) · Quality (3/5)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B954"/>
                </a:solidFill>
              </a:rPr>
              <a:t>Pourquoi agir maintenant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B3B3"/>
                </a:solidFill>
              </a:rPr>
              <a:t>3 signaux d'alarme — 9 dimensions de maturité évaluées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684468"/>
            <a:ext cx="3749039" cy="4070873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684468"/>
            <a:ext cx="3749039" cy="109728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82162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4C4C"/>
                </a:solidFill>
              </a:rPr>
              <a:t>⚠️  Risque financier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351980"/>
            <a:ext cx="3520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GDPR : amende jusqu'à 20 M€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   ou 4% du CA annuel mondial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Notification violation : 72 h max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CCPA + PDPA + LGPD cumulés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   sur 180 pays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FF4C4C"/>
                </a:solidFill>
              </a:rPr>
              <a:t>Dimension Compliance : 3/5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FF4C4C"/>
                </a:solidFill>
              </a:rPr>
              <a:t>→ Chaque incident = exposition directe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684468"/>
            <a:ext cx="3749039" cy="4070873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59" y="1684468"/>
            <a:ext cx="3749039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61688" y="182162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🔗  Silos inter-départements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351980"/>
            <a:ext cx="3520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5 dpts, 5 visions incompatibles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"Utilisateur actif" : définition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   différente Marketing vs Product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Parcours user discovery→premium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   impossible à analyser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FFD700"/>
                </a:solidFill>
              </a:rPr>
              <a:t>Dimension Governance : 2/5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FFD700"/>
                </a:solidFill>
              </a:rPr>
              <a:t>→ Les silos coûtent des revenus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684468"/>
            <a:ext cx="3749039" cy="4070873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83879" y="1684468"/>
            <a:ext cx="3749039" cy="10972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7" y="182162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B954"/>
                </a:solidFill>
              </a:rPr>
              <a:t>🛡️  Réputation &amp; confiance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7" y="2351980"/>
            <a:ext cx="3520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Users sensibles à la privacy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Apple Music, Amazon Music,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   YouTube Music capitalisent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Biais algorithme non audités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FFFF"/>
                </a:solidFill>
              </a:rPr>
              <a:t>EU AI Act en vigueur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1DB954"/>
                </a:solidFill>
              </a:rPr>
              <a:t>Dimension Data Literacy : 3/5</a:t>
            </a:r>
          </a:p>
          <a:p>
            <a:pPr>
              <a:spcBef>
                <a:spcPts val="200"/>
              </a:spcBef>
            </a:pPr>
            <a:r>
              <a:rPr sz="1100" b="1">
                <a:solidFill>
                  <a:srgbClr val="1DB954"/>
                </a:solidFill>
              </a:rPr>
              <a:t>→ La confiance est un avantage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6159470"/>
            <a:ext cx="11548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DB954"/>
                </a:solidFill>
              </a:rPr>
              <a:t>« Nous ne choisissons pas entre gouvernance et croissance. Sans gouvernance, la croissance s'arrête. 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B954"/>
                </a:solidFill>
              </a:rPr>
              <a:t>Notre framework : 9 principes officiels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B3B3"/>
                </a:solidFill>
              </a:rPr>
              <a:t>Source : Governance Principles Guide Spotify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49039" cy="134470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3749039" cy="10972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53619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B954"/>
                </a:solidFill>
              </a:rPr>
              <a:t>1. Accountability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21408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Data Stewards + DPO
Fiches de rôle signées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71600"/>
            <a:ext cx="3749039" cy="134470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59" y="1371600"/>
            <a:ext cx="3749039" cy="109728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61688" y="153619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B5F6"/>
                </a:solidFill>
              </a:rPr>
              <a:t>2. Transparency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121408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Privacy notices + OneTrust
180 pays couverts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749039" cy="134470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749039" cy="109728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7" y="153619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C4C"/>
                </a:solidFill>
              </a:rPr>
              <a:t>3. Data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121408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Splunk SIEM + Vormetric
Chiffrement AES-256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79868"/>
            <a:ext cx="3749039" cy="134470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2952974"/>
            <a:ext cx="3749039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3117566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4. Data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858768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Talend + Great Expectations
Collibra catalogue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2952974"/>
            <a:ext cx="3749039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51959" y="2952974"/>
            <a:ext cx="3749039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61688" y="3117566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</a:rPr>
              <a:t>5. Compliance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3858768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GDPR/CCPA/PCI-DSS
DPIAs systématiques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952974"/>
            <a:ext cx="3749039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2952974"/>
            <a:ext cx="3749039" cy="10972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9327" y="3117566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B954"/>
                </a:solidFill>
              </a:rPr>
              <a:t>6. Minimization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3858768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Politiques strictes collecte
Revue annuelle datasets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" y="4516957"/>
            <a:ext cx="3749039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74320" y="4516957"/>
            <a:ext cx="3749039" cy="109728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4048" y="4681549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B5F6"/>
                </a:solidFill>
              </a:rPr>
              <a:t>7. User Rights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5266765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Effacement &lt;30j
Portabilité + opt-out CCPA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4516957"/>
            <a:ext cx="3749039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251959" y="4516957"/>
            <a:ext cx="3749039" cy="109728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61688" y="4681549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C4C"/>
                </a:solidFill>
              </a:rPr>
              <a:t>8. Continuous
Improvement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1688" y="5266765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Révision annuelle
Governance Committee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4516957"/>
            <a:ext cx="3749039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29600" y="4516957"/>
            <a:ext cx="3749039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39327" y="4681549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9. Ethical Use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7" y="5266765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Audits biais algo trimestriels
Conformité EU AI Act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8979" y="6139569"/>
            <a:ext cx="11640312" cy="361099"/>
          </a:xfrm>
          <a:prstGeom prst="rect">
            <a:avLst/>
          </a:prstGeom>
          <a:solidFill>
            <a:srgbClr val="0A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6139" y="619461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DB954"/>
                </a:solidFill>
              </a:rPr>
              <a:t>✓ </a:t>
            </a:r>
            <a:r>
              <a:rPr sz="1100" b="1" dirty="0" err="1">
                <a:solidFill>
                  <a:srgbClr val="1DB954"/>
                </a:solidFill>
              </a:rPr>
              <a:t>Qualité</a:t>
            </a:r>
            <a:r>
              <a:rPr sz="1100" b="1" dirty="0">
                <a:solidFill>
                  <a:srgbClr val="1DB954"/>
                </a:solidFill>
              </a:rPr>
              <a:t> des </a:t>
            </a:r>
            <a:r>
              <a:rPr sz="1100" b="1" dirty="0" err="1">
                <a:solidFill>
                  <a:srgbClr val="1DB954"/>
                </a:solidFill>
              </a:rPr>
              <a:t>données</a:t>
            </a:r>
            <a:endParaRPr sz="1100" b="1" dirty="0">
              <a:solidFill>
                <a:srgbClr val="1DB954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323931" y="619461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</a:rPr>
              <a:t>✓ Conformité réglementaire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1723" y="619461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</a:rPr>
              <a:t>✓ Protection privacy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39515" y="6194612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</a:rPr>
              <a:t>✓ Accessibilité &amp; Intégration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B954"/>
                </a:solidFill>
              </a:rPr>
              <a:t>Conformité réglementaire mondiale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B3B3"/>
                </a:solidFill>
              </a:rPr>
              <a:t>5 réglementations couvertes — stack officielle : OneTrust · Splunk · Vormetric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594822"/>
            <a:ext cx="2788920" cy="291442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594822"/>
            <a:ext cx="2788920" cy="109728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73198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4C4C"/>
                </a:solidFill>
              </a:rPr>
              <a:t>GDPR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43461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</a:rPr>
              <a:t>Union Européenne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09222"/>
            <a:ext cx="2606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Consentement explicite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Effacement &lt;30 jours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Portabilité JSON/CSV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Notification violation 72h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DPIA systématique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Amende : 20M€ / 4% 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594822"/>
            <a:ext cx="2788920" cy="291442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1594822"/>
            <a:ext cx="2788920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73198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8C00"/>
                </a:solidFill>
              </a:rPr>
              <a:t>CCPA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143461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</a:rPr>
              <a:t>Californie (USA)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509222"/>
            <a:ext cx="2606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Opt-out 'Do Not Sell'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Accès données &lt;45j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Non-discrimination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Transparence collecte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594822"/>
            <a:ext cx="2788920" cy="291442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1594822"/>
            <a:ext cx="278892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73198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</a:rPr>
              <a:t>PCI-DSS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43461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</a:rPr>
              <a:t>Global — Paiements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509222"/>
            <a:ext cx="2606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Délégation Stripe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TLS 1.2+ sur flux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Audit annuel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Logs accès 12 mois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594822"/>
            <a:ext cx="2788920" cy="291442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52560" y="1594822"/>
            <a:ext cx="2788920" cy="10972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1731982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B954"/>
                </a:solidFill>
              </a:rPr>
              <a:t>PDPA / LGPD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143461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</a:rPr>
              <a:t>Singapour · Brésil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509222"/>
            <a:ext cx="2606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Consentement local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Notification violations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Base légale explicite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LGPD : 2% CA Brésil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909968"/>
            <a:ext cx="5669280" cy="100584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49556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B5F6"/>
                </a:solidFill>
              </a:rPr>
              <a:t>🔒 Stack Compliance — Tech Tools Overview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32144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OneTrust (GDPR/CCPA 180 pays)  ·  TrustArc (inventory/consent)  ·  VeraSafe (audits/incidents)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909968"/>
            <a:ext cx="5696712" cy="100584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49556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C4C"/>
                </a:solidFill>
              </a:rPr>
              <a:t>🛡️ Stack Security — Tech Tools 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32144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Splunk SIEM (temps réel)  ·  DataGuard (automation GDPR)  ·  Vormetric (chiffrement BDD/fichiers)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961528"/>
            <a:ext cx="11640312" cy="6858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025536"/>
            <a:ext cx="11247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fr-FR" sz="1100" b="0" dirty="0" smtClean="0">
              <a:solidFill>
                <a:srgbClr val="64B5F6"/>
              </a:solidFill>
            </a:endParaRPr>
          </a:p>
          <a:p>
            <a:pPr algn="l"/>
            <a:r>
              <a:rPr sz="1100" b="0" dirty="0" smtClean="0">
                <a:solidFill>
                  <a:srgbClr val="64B5F6"/>
                </a:solidFill>
              </a:rPr>
              <a:t>🤖  </a:t>
            </a:r>
            <a:r>
              <a:rPr sz="1100" b="0" dirty="0">
                <a:solidFill>
                  <a:srgbClr val="64B5F6"/>
                </a:solidFill>
              </a:rPr>
              <a:t>EU AI Act : Discover Weekly &amp; Daily Mix </a:t>
            </a:r>
            <a:r>
              <a:rPr sz="1100" b="0" dirty="0" err="1">
                <a:solidFill>
                  <a:srgbClr val="64B5F6"/>
                </a:solidFill>
              </a:rPr>
              <a:t>soumis</a:t>
            </a:r>
            <a:r>
              <a:rPr sz="1100" b="0" dirty="0">
                <a:solidFill>
                  <a:srgbClr val="64B5F6"/>
                </a:solidFill>
              </a:rPr>
              <a:t> aux </a:t>
            </a:r>
            <a:r>
              <a:rPr sz="1100" b="0" dirty="0" err="1">
                <a:solidFill>
                  <a:srgbClr val="64B5F6"/>
                </a:solidFill>
              </a:rPr>
              <a:t>exigences</a:t>
            </a:r>
            <a:r>
              <a:rPr sz="1100" b="0" dirty="0">
                <a:solidFill>
                  <a:srgbClr val="64B5F6"/>
                </a:solidFill>
              </a:rPr>
              <a:t> </a:t>
            </a:r>
            <a:r>
              <a:rPr sz="1100" b="0" dirty="0" err="1">
                <a:solidFill>
                  <a:srgbClr val="64B5F6"/>
                </a:solidFill>
              </a:rPr>
              <a:t>d'explicabilité</a:t>
            </a:r>
            <a:r>
              <a:rPr sz="1100" b="0" dirty="0">
                <a:solidFill>
                  <a:srgbClr val="64B5F6"/>
                </a:solidFill>
              </a:rPr>
              <a:t> et non-discrimination — audits </a:t>
            </a:r>
            <a:r>
              <a:rPr sz="1100" b="0" dirty="0" err="1">
                <a:solidFill>
                  <a:srgbClr val="64B5F6"/>
                </a:solidFill>
              </a:rPr>
              <a:t>biais</a:t>
            </a:r>
            <a:r>
              <a:rPr sz="1100" b="0" dirty="0">
                <a:solidFill>
                  <a:srgbClr val="64B5F6"/>
                </a:solidFill>
              </a:rPr>
              <a:t> </a:t>
            </a:r>
            <a:r>
              <a:rPr sz="1100" b="0" dirty="0" err="1">
                <a:solidFill>
                  <a:srgbClr val="64B5F6"/>
                </a:solidFill>
              </a:rPr>
              <a:t>algorithmiques</a:t>
            </a:r>
            <a:r>
              <a:rPr sz="1100" b="0" dirty="0">
                <a:solidFill>
                  <a:srgbClr val="64B5F6"/>
                </a:solidFill>
              </a:rPr>
              <a:t> </a:t>
            </a:r>
            <a:r>
              <a:rPr sz="1100" b="0" dirty="0" err="1">
                <a:solidFill>
                  <a:srgbClr val="64B5F6"/>
                </a:solidFill>
              </a:rPr>
              <a:t>trimestriels</a:t>
            </a:r>
            <a:endParaRPr sz="1100" b="0" dirty="0">
              <a:solidFill>
                <a:srgbClr val="64B5F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B954"/>
                </a:solidFill>
              </a:rPr>
              <a:t>Organisation &amp; rôles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B3B3"/>
                </a:solidFill>
              </a:rPr>
              <a:t>Source : Data Governance Roles Template officiel — modèle CoE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70705"/>
            <a:ext cx="3749039" cy="20391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0705"/>
            <a:ext cx="3749039" cy="10972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526153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B954"/>
                </a:solidFill>
              </a:rPr>
              <a:t>CDO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083937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</a:rPr>
              <a:t>Chief Data Officer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449697"/>
            <a:ext cx="3520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Stratégie data globale
Pilotage du CoE
Arbitrage conflits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370705"/>
            <a:ext cx="3749039" cy="20391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59" y="1370705"/>
            <a:ext cx="3749039" cy="109728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61688" y="1526153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4C4C"/>
                </a:solidFill>
              </a:rPr>
              <a:t>DPO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083937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</a:rPr>
              <a:t>Data Protection Officer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449697"/>
            <a:ext cx="3520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Conformité GDPR/CCPA/PDPA
DPIAs + autorités
Breach notification 72h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370705"/>
            <a:ext cx="3749039" cy="20391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370705"/>
            <a:ext cx="3749039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7" y="1526153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</a:rPr>
              <a:t>Head
Eng.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083937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</a:rPr>
              <a:t>Head of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2449697"/>
            <a:ext cx="3520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Infrastructure GCP
Splunk + Vormetric
Pipelines scalables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471" y="3674993"/>
            <a:ext cx="3749039" cy="20345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6471" y="3665849"/>
            <a:ext cx="3749039" cy="10972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6199" y="3821297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8C00"/>
                </a:solidFill>
              </a:rPr>
              <a:t>Mktg
Dir.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6199" y="4379081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</a:rPr>
              <a:t>Marketing Director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6199" y="4744841"/>
            <a:ext cx="3520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Conformité campagnes
Qualité données mktg
Segmentation CCPA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4110" y="3665849"/>
            <a:ext cx="3749039" cy="20391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54110" y="3665849"/>
            <a:ext cx="3749039" cy="109728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63839" y="3821297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4B5F6"/>
                </a:solidFill>
              </a:rPr>
              <a:t>Legal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3839" y="4379081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</a:rPr>
              <a:t>Legal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63839" y="4744841"/>
            <a:ext cx="3520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Validation juridique
Gestion litiges data
Contrats fournisseurs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31751" y="3665849"/>
            <a:ext cx="3749039" cy="20391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31751" y="3665849"/>
            <a:ext cx="3749039" cy="109728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41478" y="3821297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E93D8"/>
                </a:solidFill>
              </a:rPr>
              <a:t>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1478" y="4379081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</a:rPr>
              <a:t>Product Managers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1478" y="4744841"/>
            <a:ext cx="3520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Privacy by design
Conformité features
Qualité données produit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19" y="5925312"/>
            <a:ext cx="11704319" cy="777240"/>
          </a:xfrm>
          <a:prstGeom prst="rect">
            <a:avLst/>
          </a:prstGeom>
          <a:solidFill>
            <a:srgbClr val="0A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199" y="5971032"/>
            <a:ext cx="113089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B954"/>
                </a:solidFill>
              </a:rPr>
              <a:t>Data Governance CoE → 5 Data Stewards (User · Content · Payments · Ads · Marketing)  +  Privacy Team (DPO + 2 analystes)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199" y="6318504"/>
            <a:ext cx="1130896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Data Governance Committee mensuel : CDO + DPO + Head Eng. + Mktg Dir. + Legal + 5 Stewards + représentant Product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B954"/>
                </a:solidFill>
              </a:rPr>
              <a:t>Plan d'implémentation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B3B3"/>
                </a:solidFill>
              </a:rPr>
              <a:t>4 phases · 12 mois · timeline validée par l'Executive Q&amp;A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505175"/>
            <a:ext cx="2788920" cy="7315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532607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</a:rPr>
              <a:t>M1-M2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8639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</a:rPr>
              <a:t>FONDATIONS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36695"/>
            <a:ext cx="2788920" cy="21762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328135"/>
            <a:ext cx="2606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CDO nommé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CoE + Privacy Team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OneTrust 180 pays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Collibra pilote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Splunk + Vormetric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Formation M1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3288255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B954"/>
                </a:solidFill>
              </a:rPr>
              <a:t>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505175"/>
            <a:ext cx="278892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532607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</a:rPr>
              <a:t>M3-M4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788639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</a:rPr>
              <a:t>PILOTE
USER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236695"/>
            <a:ext cx="2788920" cy="21762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0128" y="2328135"/>
            <a:ext cx="2606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Talend + Great Exp.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Pipeline GDPR &lt;30j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DPIA validée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Audit biais algo v1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Go/No-Go M4</a:t>
            </a:r>
          </a:p>
          <a:p>
            <a:pPr>
              <a:spcBef>
                <a:spcPts val="200"/>
              </a:spcBef>
            </a:pPr>
            <a:endParaRPr sz="110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89320" y="3288255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700"/>
                </a:solidFill>
              </a:rPr>
              <a:t>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505175"/>
            <a:ext cx="2788920" cy="731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532607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</a:rPr>
              <a:t>M5-M8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788639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</a:rPr>
              <a:t>GÉNÉRALISATION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236695"/>
            <a:ext cx="2788920" cy="21762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36208" y="2328135"/>
            <a:ext cx="2606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Content + Payments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Marketing + Ads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5 domaines Collibra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VeraSafe (Payments)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OneTrust étendu</a:t>
            </a:r>
          </a:p>
          <a:p>
            <a:pPr>
              <a:spcBef>
                <a:spcPts val="200"/>
              </a:spcBef>
            </a:pPr>
            <a:endParaRPr sz="1100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15400" y="3288255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C00"/>
                </a:solidFill>
              </a:rPr>
              <a:t>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1505175"/>
            <a:ext cx="2788920" cy="73152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0" y="1532607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212"/>
                </a:solidFill>
              </a:rPr>
              <a:t>M9-M12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788639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21212"/>
                </a:solidFill>
              </a:rPr>
              <a:t>INDUSTRIALISATION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2236695"/>
            <a:ext cx="2788920" cy="21762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62288" y="2328135"/>
            <a:ext cx="2606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Monte Carlo déployé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OpenLineage actif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Ataccama ONE (AI quality)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Audit conformité complet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Audit biais algo complet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• Dashboard exécutif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818888"/>
            <a:ext cx="11640312" cy="14173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8646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B954"/>
                </a:solidFill>
              </a:rPr>
              <a:t>Stack officielle (Tech Tools Overview)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2303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</a:rPr>
              <a:t>Catalogue: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2303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Collibra  /  Alation  /  Apache Atlas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6875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</a:rPr>
              <a:t>Qualité: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6875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Talend  /  Informatica  /  Ataccama ONE  /  Great Expectations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2303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</a:rPr>
              <a:t>Compliance: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52303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OneTrust  /  TrustArc  /  VeraSafe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68756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DB954"/>
                </a:solidFill>
              </a:rPr>
              <a:t>Security: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56875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Splunk (SIEM)  /  DataGuard  /  Vormetric (chiffrement)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504790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3B3B3"/>
                </a:solidFill>
              </a:rPr>
              <a:t>Pilote : 2 mois (M3-M4)  ·  Rollout complet : 12 mois  ·  Audit conformité : M10  |  Conforme Executive Q&amp;A Guide (3-6 mois pilote, 12-18 mois rollout)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B954"/>
                </a:solidFill>
              </a:rPr>
              <a:t>Pilote User Data — KPIs officiels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B3B3"/>
                </a:solidFill>
              </a:rPr>
              <a:t>Source : Pilot Implementation Template — M3-M4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97600"/>
            <a:ext cx="5394960" cy="3840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489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B954"/>
                </a:solidFill>
              </a:rPr>
              <a:t>Pourquoi User Data en premier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9196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1">
                <a:solidFill>
                  <a:srgbClr val="1DB954"/>
                </a:solidFill>
              </a:rPr>
              <a:t>→ 450M utilisateurs concernés par le GDPR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DB954"/>
                </a:solidFill>
              </a:rPr>
              <a:t>→ Données révélant des infos sensibles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  (état émotionnel, convictions implicites)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DB954"/>
                </a:solidFill>
              </a:rPr>
              <a:t>→ Risque : jusqu'à 4% du CA mondial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  si incident de données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DB954"/>
                </a:solidFill>
              </a:rPr>
              <a:t>→ Alimente Discover Weekly, Daily Mix,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</a:rPr>
              <a:t>  toutes les playlists personnalisées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DB954"/>
                </a:solidFill>
              </a:rPr>
              <a:t>→ Impact direct sur la rétention premium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97600"/>
            <a:ext cx="5971032" cy="38404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60" y="1489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</a:rPr>
              <a:t>KPIs officiels (Pilot Template)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991960"/>
            <a:ext cx="5971032" cy="493776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201939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✓ Data Quality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01939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</a:rPr>
              <a:t>-10% données manquantes → &gt;98%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2019392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3B3B3"/>
                </a:solidFill>
              </a:rPr>
              <a:t>Talend + Great Exp.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531456"/>
            <a:ext cx="5971032" cy="493776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2558888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✓ Compliance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55888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</a:rPr>
              <a:t>100% consentements valides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2558888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3B3B3"/>
                </a:solidFill>
              </a:rPr>
              <a:t>OneTrust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070952"/>
            <a:ext cx="5971032" cy="493776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3098384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✓ Data Access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09838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</a:rPr>
              <a:t>+20% amélioration accès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3098384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3B3B3"/>
                </a:solidFill>
              </a:rPr>
              <a:t>Avant/après Collibra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3610448"/>
            <a:ext cx="5971032" cy="493776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3637880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✓ Risk Mitigation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63788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</a:rPr>
              <a:t>0 brèche pendant le pilote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3637880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3B3B3"/>
                </a:solidFill>
              </a:rPr>
              <a:t>Splunk SIEM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4149944"/>
            <a:ext cx="5971032" cy="493776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80760" y="4177376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✓ Pipeline GDPR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17737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</a:rPr>
              <a:t>Effacement &lt;30 jours opérationnel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417737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3B3B3"/>
                </a:solidFill>
              </a:rPr>
              <a:t>Test end-to-end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4689440"/>
            <a:ext cx="5971032" cy="493776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60" y="4716872"/>
            <a:ext cx="2194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✓ Biais algorithmiques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71687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</a:rPr>
              <a:t>0 biais critique Discover Weekly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4716872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3B3B3"/>
                </a:solidFill>
              </a:rPr>
              <a:t>Audit DPO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490344"/>
            <a:ext cx="11640312" cy="658368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5360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B5F6"/>
                </a:solidFill>
              </a:rPr>
              <a:t>Livrables officiels (Pilot Template) 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5536064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Data Quality Report  ·  Compliance Assessment  ·  Technical Integration Plan  ·  Risk Assessment Report  ·  Stakeholder Feedback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329442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1DB954"/>
                </a:solidFill>
              </a:rPr>
              <a:t>« Si nous </a:t>
            </a:r>
            <a:r>
              <a:rPr sz="1200" b="1" dirty="0" err="1">
                <a:solidFill>
                  <a:srgbClr val="1DB954"/>
                </a:solidFill>
              </a:rPr>
              <a:t>protégeons</a:t>
            </a:r>
            <a:r>
              <a:rPr sz="1200" b="1" dirty="0">
                <a:solidFill>
                  <a:srgbClr val="1DB954"/>
                </a:solidFill>
              </a:rPr>
              <a:t> </a:t>
            </a:r>
            <a:r>
              <a:rPr sz="1200" b="1" dirty="0" err="1">
                <a:solidFill>
                  <a:srgbClr val="1DB954"/>
                </a:solidFill>
              </a:rPr>
              <a:t>bien</a:t>
            </a:r>
            <a:r>
              <a:rPr sz="1200" b="1" dirty="0">
                <a:solidFill>
                  <a:srgbClr val="1DB954"/>
                </a:solidFill>
              </a:rPr>
              <a:t> les </a:t>
            </a:r>
            <a:r>
              <a:rPr sz="1200" b="1" dirty="0" err="1">
                <a:solidFill>
                  <a:srgbClr val="1DB954"/>
                </a:solidFill>
              </a:rPr>
              <a:t>données</a:t>
            </a:r>
            <a:r>
              <a:rPr sz="1200" b="1" dirty="0">
                <a:solidFill>
                  <a:srgbClr val="1DB954"/>
                </a:solidFill>
              </a:rPr>
              <a:t> les plus </a:t>
            </a:r>
            <a:r>
              <a:rPr sz="1200" b="1" dirty="0" err="1">
                <a:solidFill>
                  <a:srgbClr val="1DB954"/>
                </a:solidFill>
              </a:rPr>
              <a:t>sensibles</a:t>
            </a:r>
            <a:r>
              <a:rPr sz="1200" b="1" dirty="0">
                <a:solidFill>
                  <a:srgbClr val="1DB954"/>
                </a:solidFill>
              </a:rPr>
              <a:t>, nous </a:t>
            </a:r>
            <a:r>
              <a:rPr sz="1200" b="1" dirty="0" err="1">
                <a:solidFill>
                  <a:srgbClr val="1DB954"/>
                </a:solidFill>
              </a:rPr>
              <a:t>pouvons</a:t>
            </a:r>
            <a:r>
              <a:rPr sz="1200" b="1" dirty="0">
                <a:solidFill>
                  <a:srgbClr val="1DB954"/>
                </a:solidFill>
              </a:rPr>
              <a:t> tout </a:t>
            </a:r>
            <a:r>
              <a:rPr sz="1200" b="1" dirty="0" err="1">
                <a:solidFill>
                  <a:srgbClr val="1DB954"/>
                </a:solidFill>
              </a:rPr>
              <a:t>gouverner</a:t>
            </a:r>
            <a:r>
              <a:rPr sz="1200" b="1" dirty="0">
                <a:solidFill>
                  <a:srgbClr val="1DB954"/>
                </a:solidFill>
              </a:rPr>
              <a:t>. 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B954"/>
                </a:solidFill>
              </a:rPr>
              <a:t>ROI &amp; bénéfices attendus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B3B3"/>
                </a:solidFill>
              </a:rPr>
              <a:t>Source : Executive Q&amp;A Guide — Q3 · Business value en 4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603786"/>
            <a:ext cx="2834640" cy="29535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603786"/>
            <a:ext cx="2834640" cy="10972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759234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B954"/>
                </a:solidFill>
              </a:rPr>
              <a:t>💰 Cost Savings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289586"/>
            <a:ext cx="261518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Qualité améliorée → moins d'inefficacités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Données fiables → décisions plus rapides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Moins d'audits correctifs a posteriori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Time-to-market réduit (privacy by design)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603786"/>
            <a:ext cx="2834640" cy="29535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1603786"/>
            <a:ext cx="2834640" cy="109728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5848" y="1759234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4C4C"/>
                </a:solidFill>
              </a:rPr>
              <a:t>⚖️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289586"/>
            <a:ext cx="261518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0 amende GDPR/CCPA/PDPA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Éviter jusqu'à 4% du CA mondial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0 pénalité CCPA (class action)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EU AI Act : 0 risque retrait de marché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03786"/>
            <a:ext cx="2834640" cy="29535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603786"/>
            <a:ext cx="2834640" cy="109728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1759234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B5F6"/>
                </a:solidFill>
              </a:rPr>
              <a:t>🤝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289586"/>
            <a:ext cx="261518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Transparence → fidélité utilisateurs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Contrôle data → churn réduit UE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Éthique algo → avantage pub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Différenciateur vs Apple Music/Amazon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603786"/>
            <a:ext cx="2834640" cy="295351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89720" y="1603786"/>
            <a:ext cx="28346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99448" y="1759234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📈 Scalability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2289586"/>
            <a:ext cx="261518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Infrastructure scalable 200M→300M+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Framework adaptable nouvelles réglementations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Outils évolutifs (Talend, Collibra)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FFFFF"/>
                </a:solidFill>
              </a:rPr>
              <a:t>→ Expansion nouveaux marchés facilitée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784463"/>
            <a:ext cx="11640312" cy="13258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830183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C4C"/>
                </a:solidFill>
              </a:rPr>
              <a:t>Risques financiers évités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24166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GDPR (violation majeure)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241663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4C4C"/>
                </a:solidFill>
              </a:rPr>
              <a:t>Jusqu'à 20 M€ ou 4% CA mondial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24166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CCPA + PDPA + LGPD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241663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4C4C"/>
                </a:solidFill>
              </a:rPr>
              <a:t>Plusieurs M€ cumulés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2571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EU AI Act (biais algo)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625711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4C4C"/>
                </a:solidFill>
              </a:rPr>
              <a:t>Retrait de marché possible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62571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Class action utilisateurs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5625711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4C4C"/>
                </a:solidFill>
              </a:rPr>
              <a:t>Coûts juridiques + réputation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290534"/>
            <a:ext cx="11640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1DB954"/>
                </a:solidFill>
              </a:rPr>
              <a:t>« La </a:t>
            </a:r>
            <a:r>
              <a:rPr sz="1100" b="1" dirty="0" err="1">
                <a:solidFill>
                  <a:srgbClr val="1DB954"/>
                </a:solidFill>
              </a:rPr>
              <a:t>gouvernance</a:t>
            </a:r>
            <a:r>
              <a:rPr sz="1100" b="1" dirty="0">
                <a:solidFill>
                  <a:srgbClr val="1DB954"/>
                </a:solidFill>
              </a:rPr>
              <a:t> </a:t>
            </a:r>
            <a:r>
              <a:rPr sz="1100" b="1" dirty="0" err="1">
                <a:solidFill>
                  <a:srgbClr val="1DB954"/>
                </a:solidFill>
              </a:rPr>
              <a:t>n'est</a:t>
            </a:r>
            <a:r>
              <a:rPr sz="1100" b="1" dirty="0">
                <a:solidFill>
                  <a:srgbClr val="1DB954"/>
                </a:solidFill>
              </a:rPr>
              <a:t> pas un </a:t>
            </a:r>
            <a:r>
              <a:rPr sz="1100" b="1" dirty="0" err="1">
                <a:solidFill>
                  <a:srgbClr val="1DB954"/>
                </a:solidFill>
              </a:rPr>
              <a:t>coût</a:t>
            </a:r>
            <a:r>
              <a:rPr sz="1100" b="1" dirty="0">
                <a:solidFill>
                  <a:srgbClr val="1DB954"/>
                </a:solidFill>
              </a:rPr>
              <a:t>. </a:t>
            </a:r>
            <a:r>
              <a:rPr sz="1100" b="1" dirty="0" err="1">
                <a:solidFill>
                  <a:srgbClr val="1DB954"/>
                </a:solidFill>
              </a:rPr>
              <a:t>C'est</a:t>
            </a:r>
            <a:r>
              <a:rPr sz="1100" b="1" dirty="0">
                <a:solidFill>
                  <a:srgbClr val="1DB954"/>
                </a:solidFill>
              </a:rPr>
              <a:t> </a:t>
            </a:r>
            <a:r>
              <a:rPr sz="1100" b="1" dirty="0" err="1">
                <a:solidFill>
                  <a:srgbClr val="1DB954"/>
                </a:solidFill>
              </a:rPr>
              <a:t>une</a:t>
            </a:r>
            <a:r>
              <a:rPr sz="1100" b="1" dirty="0">
                <a:solidFill>
                  <a:srgbClr val="1DB954"/>
                </a:solidFill>
              </a:rPr>
              <a:t> assurance et un </a:t>
            </a:r>
            <a:r>
              <a:rPr sz="1100" b="1" dirty="0" err="1">
                <a:solidFill>
                  <a:srgbClr val="1DB954"/>
                </a:solidFill>
              </a:rPr>
              <a:t>accélérateur</a:t>
            </a:r>
            <a:r>
              <a:rPr sz="1100" b="1" dirty="0">
                <a:solidFill>
                  <a:srgbClr val="1DB954"/>
                </a:solidFill>
              </a:rPr>
              <a:t> de </a:t>
            </a:r>
            <a:r>
              <a:rPr sz="1100" b="1" dirty="0" err="1">
                <a:solidFill>
                  <a:srgbClr val="1DB954"/>
                </a:solidFill>
              </a:rPr>
              <a:t>croissance</a:t>
            </a:r>
            <a:r>
              <a:rPr sz="1100" b="1" dirty="0">
                <a:solidFill>
                  <a:srgbClr val="1DB954"/>
                </a:solidFill>
              </a:rPr>
              <a:t>. 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DB954"/>
                </a:solidFill>
              </a:rPr>
              <a:t>Prochaines étapes &amp; Q&amp;A anticipé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3B3B3"/>
                </a:solidFill>
              </a:rPr>
              <a:t>3 décisions aujourd'hui — 12 questions officielles (Executive Q&amp;A Guide)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7132320" cy="12984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98448"/>
            <a:ext cx="7132320" cy="73152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463039"/>
            <a:ext cx="594360" cy="59436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463039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1212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426464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B954"/>
                </a:solidFill>
              </a:rPr>
              <a:t>Nommer le CDO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865376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</a:rPr>
              <a:t>Condition sine qua non — sans CDO, le CoE ne peut pas être constitué.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31136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→ Valider profil et nommer avant fin du mois.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715768"/>
            <a:ext cx="7132320" cy="12984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2715768"/>
            <a:ext cx="713232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2880360"/>
            <a:ext cx="59436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2880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1212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843784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Valider le budget Phases 1-2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282696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</a:rPr>
              <a:t>Outils (Collibra, OneTrust, Splunk, Vormetric) + CoE + formation. Offset par réduction risque.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648456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→ Approuver le budget Phases 1-2.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33087"/>
            <a:ext cx="7132320" cy="129844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4133087"/>
            <a:ext cx="7132320" cy="73152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4297679"/>
            <a:ext cx="594360" cy="59436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4297679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1212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261103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4C4C"/>
                </a:solidFill>
              </a:rPr>
              <a:t>Lancer la communication interne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700016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B3B3"/>
                </a:solidFill>
              </a:rPr>
              <a:t>Le change management est le risque #1. Plus tôt les équipes sont informées, moins la résistance est forte.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065775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→ Planifier webinar CEO/CDO pour le Mois 1.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1666002"/>
            <a:ext cx="4279392" cy="42519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0" y="175744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B5F6"/>
                </a:solidFill>
              </a:rPr>
              <a:t>Q&amp;A — 12 questions officielles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40" y="2196354"/>
            <a:ext cx="4279392" cy="56692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0" y="223293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B5F6"/>
                </a:solidFill>
              </a:rPr>
              <a:t>Q1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23293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Pourquoi maintenant 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48896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</a:rPr>
              <a:t>450M users, GDPR 4% CA, silos coûteux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2809002"/>
            <a:ext cx="4279392" cy="56692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0" y="2845578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B5F6"/>
                </a:solidFill>
              </a:rPr>
              <a:t>Q5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84557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Pourquoi le CoE 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10161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</a:rPr>
              <a:t>Équilibre gouvernance/autonomie squads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35240" y="3421650"/>
            <a:ext cx="4279392" cy="56692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0" y="3458226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B5F6"/>
                </a:solidFill>
              </a:rPr>
              <a:t>Q6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45822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Comment mesurer le succès 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714257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</a:rPr>
              <a:t>-10% missing, +20% accès, 100% consent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35240" y="4034298"/>
            <a:ext cx="4279392" cy="56692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72400" y="4070874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B5F6"/>
                </a:solidFill>
              </a:rPr>
              <a:t>Q7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07087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Combien de temps 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32690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</a:rPr>
              <a:t>Pilote M3-M4 · Rollout complet M12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35240" y="4646946"/>
            <a:ext cx="4279392" cy="56692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72400" y="4683522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B5F6"/>
                </a:solidFill>
              </a:rPr>
              <a:t>Q8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68352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Quels coûts 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93955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</a:rPr>
              <a:t>Outils + formation + CoE → offset long terme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35240" y="5259594"/>
            <a:ext cx="4279392" cy="56692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772400" y="5296170"/>
            <a:ext cx="45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B5F6"/>
                </a:solidFill>
              </a:rPr>
              <a:t>Q12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29617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Impact sur l'innovation 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55220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3B3B3"/>
                </a:solidFill>
              </a:rPr>
              <a:t>Non — données fiables = innovation plus rapide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596128"/>
            <a:ext cx="7132320" cy="548640"/>
          </a:xfrm>
          <a:prstGeom prst="rect">
            <a:avLst/>
          </a:prstGeom>
          <a:solidFill>
            <a:srgbClr val="0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1480" y="561441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DB954"/>
                </a:solidFill>
              </a:rPr>
              <a:t>Aujourd'hui
GO/NO-GO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65960" y="561441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DB954"/>
                </a:solidFill>
              </a:rPr>
              <a:t>Fin du mois
CDO nommé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20440" y="561441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DB954"/>
                </a:solidFill>
              </a:rPr>
              <a:t>Mois 1
Kick-off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74920" y="561441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DB954"/>
                </a:solidFill>
              </a:rPr>
              <a:t>Mois 3
Pilote démarre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6309360"/>
            <a:ext cx="11640312" cy="429767"/>
          </a:xfrm>
          <a:prstGeom prst="rect">
            <a:avLst/>
          </a:prstGeom>
          <a:solidFill>
            <a:srgbClr val="0A5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7200" y="6388609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1DB954"/>
                </a:solidFill>
              </a:rPr>
              <a:t>Full rollout M12  ·  Audit </a:t>
            </a:r>
            <a:r>
              <a:rPr sz="1100" b="1" dirty="0" err="1">
                <a:solidFill>
                  <a:srgbClr val="1DB954"/>
                </a:solidFill>
              </a:rPr>
              <a:t>conformité</a:t>
            </a:r>
            <a:r>
              <a:rPr sz="1100" b="1" dirty="0">
                <a:solidFill>
                  <a:srgbClr val="1DB954"/>
                </a:solidFill>
              </a:rPr>
              <a:t> M10  ·  ROI </a:t>
            </a:r>
            <a:r>
              <a:rPr sz="1100" b="1" dirty="0" err="1">
                <a:solidFill>
                  <a:srgbClr val="1DB954"/>
                </a:solidFill>
              </a:rPr>
              <a:t>positif</a:t>
            </a:r>
            <a:r>
              <a:rPr sz="1100" b="1" dirty="0">
                <a:solidFill>
                  <a:srgbClr val="1DB954"/>
                </a:solidFill>
              </a:rPr>
              <a:t> </a:t>
            </a:r>
            <a:r>
              <a:rPr sz="1100" b="1" dirty="0" err="1">
                <a:solidFill>
                  <a:srgbClr val="1DB954"/>
                </a:solidFill>
              </a:rPr>
              <a:t>attendu</a:t>
            </a:r>
            <a:r>
              <a:rPr sz="1100" b="1" dirty="0">
                <a:solidFill>
                  <a:srgbClr val="1DB954"/>
                </a:solidFill>
              </a:rPr>
              <a:t> </a:t>
            </a:r>
            <a:r>
              <a:rPr sz="1100" b="1" dirty="0" err="1">
                <a:solidFill>
                  <a:srgbClr val="1DB954"/>
                </a:solidFill>
              </a:rPr>
              <a:t>dès</a:t>
            </a:r>
            <a:r>
              <a:rPr sz="1100" b="1" dirty="0">
                <a:solidFill>
                  <a:srgbClr val="1DB954"/>
                </a:solidFill>
              </a:rPr>
              <a:t> M6  |  </a:t>
            </a:r>
            <a:r>
              <a:rPr sz="1100" b="1" dirty="0" err="1">
                <a:solidFill>
                  <a:srgbClr val="1DB954"/>
                </a:solidFill>
              </a:rPr>
              <a:t>Conforme</a:t>
            </a:r>
            <a:r>
              <a:rPr sz="1100" b="1" dirty="0">
                <a:solidFill>
                  <a:srgbClr val="1DB954"/>
                </a:solidFill>
              </a:rPr>
              <a:t> Executive Q&amp;A Guide : </a:t>
            </a:r>
            <a:r>
              <a:rPr sz="1100" b="1" dirty="0" err="1">
                <a:solidFill>
                  <a:srgbClr val="1DB954"/>
                </a:solidFill>
              </a:rPr>
              <a:t>pilote</a:t>
            </a:r>
            <a:r>
              <a:rPr sz="1100" b="1" dirty="0">
                <a:solidFill>
                  <a:srgbClr val="1DB954"/>
                </a:solidFill>
              </a:rPr>
              <a:t> 3-6 </a:t>
            </a:r>
            <a:r>
              <a:rPr sz="1100" b="1" dirty="0" err="1">
                <a:solidFill>
                  <a:srgbClr val="1DB954"/>
                </a:solidFill>
              </a:rPr>
              <a:t>mois</a:t>
            </a:r>
            <a:r>
              <a:rPr sz="1100" b="1" dirty="0">
                <a:solidFill>
                  <a:srgbClr val="1DB954"/>
                </a:solidFill>
              </a:rPr>
              <a:t> · rollout 12-18 </a:t>
            </a:r>
            <a:r>
              <a:rPr sz="1100" b="1" dirty="0" err="1">
                <a:solidFill>
                  <a:srgbClr val="1DB954"/>
                </a:solidFill>
              </a:rPr>
              <a:t>mois</a:t>
            </a:r>
            <a:endParaRPr sz="1100" b="1" dirty="0">
              <a:solidFill>
                <a:srgbClr val="1DB95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1395</Words>
  <Application>Microsoft Office PowerPoint</Application>
  <PresentationFormat>Personnalisé</PresentationFormat>
  <Paragraphs>267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Emeline</cp:lastModifiedBy>
  <cp:revision>3</cp:revision>
  <dcterms:created xsi:type="dcterms:W3CDTF">2013-01-27T09:14:16Z</dcterms:created>
  <dcterms:modified xsi:type="dcterms:W3CDTF">2026-05-17T19:23:12Z</dcterms:modified>
  <cp:category/>
</cp:coreProperties>
</file>