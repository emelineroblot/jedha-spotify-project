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Spotify traite les données de 450 millions de personnes dans 180 pays. Ces données alimentent Discover Weekly, les campagnes marketing, les décisions produit. En 2023, l'autorité suédoise a sanctionné Spotify de 5 millions d'euros sur un sujet de gouvernance, pas de technologie. Je vous propose un framework pour gouverner ces données proactivement, avec un pilote en 4 mois et 3 décisions à prendre aujourd'hui.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radar montre un paradoxe : architecture et analytics au niveau 5, gouvernance au niveau 2. Spotify a construit une Formule 1 sans direction de course. Et le précédent de 2023 prouve que le risque est réel : ce n'est pas l'infrastructure qui a été sanctionnée, c'est la clarté de l'information donnée aux utilisateurs.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9 principes du guide sont regroupés en 3 piliers pour rester lisibles. La politique tient en 3 pages : objet, principes, qualité, sécurité et accès, conformité, rôles,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d'attention : la recommandation musicale n'est pas « haut risque » au sens de l'AI Act ; l'obligation concrète vient du DSA, article 27 — expliquer la recommandation et offrir une option non fondée sur le profilage. C'est déjà dans le framework. La checklist Excel fournie a été remplie ligne par ligne.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 est le modèle recommandé par le guide et par le cours : Spotify est trop grand et trop distribué pour un modèle centralisé, et le modèle embedded, c'est ce qui existe aujourd'hui et qui produit les silos. La couche de coordination, c'est le Committee mensuel. Le DPO est hors de la ligne du CDO pour garantir son indépendance.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Calendrier aligné sur le Q&amp;A guide : pilote 3 à 6 mois, puis 12 mois de déploiement. Spotify a déjà Lexikon, un catalogue interne adopté par 95 % des data scientists : la phase 1 audite l'existant avant tout achat. On n'achète pas un outil pour remplacer ce qui marche, on ajoute la couche stewardship et policy. Un outil par besoin, choisi sur trois critères : intégration GCP/Airflow, coût, couverture.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baselines sont mesurées en semaine 1. Un KPI sans baseline n'est pas un KPI. Le périmètre UE permet d'être réaliste en 4 mois et de traiter d'abord la juridiction qui nous a déjà sanctionnés.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chiffres de coût sont des ordres de grandeur à affiner en phase 1, je les assume comme hypothèses. Mais l'ordre de grandeur suffit : le programme coûte environ 1 % de l'exposition maximale, et à peine plus que l'amende déjà payée. Source CA 2023 : rapport annuel Spotify (13,25 Md€). Source sanction : IMY, juin 2023, confirmée en appel.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ne vous demande pas de valider 18 mois aujourd'hui. Je vous demande un CDO, 6 mois de budget et un message au personnel. Le pilote fera la preuve.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5486400" cy="914400"/>
          </a:xfrm>
          <a:prstGeom prst="rect">
            <a:avLst/>
          </a:prstGeom>
          <a:noFill/>
        </p:spPr>
        <p:txBody>
          <a:bodyPr wrap="square" anchor="t" lIns="45720" rIns="45720" tIns="27432" bIns="27432">
            <a:spAutoFit/>
          </a:bodyPr>
          <a:lstStyle/>
          <a:p>
            <a:pPr algn="l"/>
            <a:r>
              <a:rPr sz="4000" b="1" i="0">
                <a:solidFill>
                  <a:srgbClr val="1DB954"/>
                </a:solidFill>
              </a:rPr>
              <a:t>Spotify</a:t>
            </a:r>
          </a:p>
        </p:txBody>
      </p:sp>
      <p:sp>
        <p:nvSpPr>
          <p:cNvPr id="5" name="TextBox 4"/>
          <p:cNvSpPr txBox="1"/>
          <p:nvPr/>
        </p:nvSpPr>
        <p:spPr>
          <a:xfrm>
            <a:off x="457200" y="1417320"/>
            <a:ext cx="11247120" cy="914400"/>
          </a:xfrm>
          <a:prstGeom prst="rect">
            <a:avLst/>
          </a:prstGeom>
          <a:noFill/>
        </p:spPr>
        <p:txBody>
          <a:bodyPr wrap="square" anchor="t" lIns="45720" rIns="45720" tIns="27432" bIns="27432">
            <a:spAutoFit/>
          </a:bodyPr>
          <a:lstStyle/>
          <a:p>
            <a:pPr algn="l"/>
            <a:r>
              <a:rPr sz="3600" b="1" i="0">
                <a:solidFill>
                  <a:srgbClr val="FFFFFF"/>
                </a:solidFill>
              </a:rPr>
              <a:t>Data Governance Framework</a:t>
            </a:r>
          </a:p>
        </p:txBody>
      </p:sp>
      <p:sp>
        <p:nvSpPr>
          <p:cNvPr id="6" name="TextBox 5"/>
          <p:cNvSpPr txBox="1"/>
          <p:nvPr/>
        </p:nvSpPr>
        <p:spPr>
          <a:xfrm>
            <a:off x="457200" y="2286000"/>
            <a:ext cx="11247120" cy="548640"/>
          </a:xfrm>
          <a:prstGeom prst="rect">
            <a:avLst/>
          </a:prstGeom>
          <a:noFill/>
        </p:spPr>
        <p:txBody>
          <a:bodyPr wrap="square" anchor="t" lIns="45720" rIns="45720" tIns="27432" bIns="27432">
            <a:spAutoFit/>
          </a:bodyPr>
          <a:lstStyle/>
          <a:p>
            <a:pPr algn="l"/>
            <a:r>
              <a:rPr sz="1800" b="0" i="0">
                <a:solidFill>
                  <a:srgbClr val="B3B3B3"/>
                </a:solidFill>
              </a:rPr>
              <a:t>Qualité · Conformité · Confiance — à l'échelle mondiale</a:t>
            </a:r>
          </a:p>
        </p:txBody>
      </p:sp>
      <p:sp>
        <p:nvSpPr>
          <p:cNvPr id="7" name="Rectangle 6"/>
          <p:cNvSpPr/>
          <p:nvPr/>
        </p:nvSpPr>
        <p:spPr>
          <a:xfrm>
            <a:off x="457200" y="3108960"/>
            <a:ext cx="2651760" cy="1371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108960"/>
            <a:ext cx="26517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246120"/>
            <a:ext cx="2651760" cy="731520"/>
          </a:xfrm>
          <a:prstGeom prst="rect">
            <a:avLst/>
          </a:prstGeom>
          <a:noFill/>
        </p:spPr>
        <p:txBody>
          <a:bodyPr wrap="square" anchor="t" lIns="45720" rIns="45720" tIns="27432" bIns="27432">
            <a:spAutoFit/>
          </a:bodyPr>
          <a:lstStyle/>
          <a:p>
            <a:pPr algn="ctr"/>
            <a:r>
              <a:rPr sz="3000" b="1" i="0">
                <a:solidFill>
                  <a:srgbClr val="1DB954"/>
                </a:solidFill>
              </a:rPr>
              <a:t>450 M</a:t>
            </a:r>
          </a:p>
        </p:txBody>
      </p:sp>
      <p:sp>
        <p:nvSpPr>
          <p:cNvPr id="10" name="TextBox 9"/>
          <p:cNvSpPr txBox="1"/>
          <p:nvPr/>
        </p:nvSpPr>
        <p:spPr>
          <a:xfrm>
            <a:off x="457200" y="3931920"/>
            <a:ext cx="2651760" cy="457200"/>
          </a:xfrm>
          <a:prstGeom prst="rect">
            <a:avLst/>
          </a:prstGeom>
          <a:noFill/>
        </p:spPr>
        <p:txBody>
          <a:bodyPr wrap="square" anchor="t" lIns="45720" rIns="45720" tIns="27432" bIns="27432">
            <a:spAutoFit/>
          </a:bodyPr>
          <a:lstStyle/>
          <a:p>
            <a:pPr algn="ctr"/>
            <a:r>
              <a:rPr sz="1200" b="0" i="0">
                <a:solidFill>
                  <a:srgbClr val="B3B3B3"/>
                </a:solidFill>
              </a:rPr>
              <a:t>utilisateurs actifs</a:t>
            </a:r>
          </a:p>
        </p:txBody>
      </p:sp>
      <p:sp>
        <p:nvSpPr>
          <p:cNvPr id="11" name="Rectangle 10"/>
          <p:cNvSpPr/>
          <p:nvPr/>
        </p:nvSpPr>
        <p:spPr>
          <a:xfrm>
            <a:off x="3291840" y="3108960"/>
            <a:ext cx="2651760" cy="1371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3108960"/>
            <a:ext cx="26517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3246120"/>
            <a:ext cx="2651760" cy="731520"/>
          </a:xfrm>
          <a:prstGeom prst="rect">
            <a:avLst/>
          </a:prstGeom>
          <a:noFill/>
        </p:spPr>
        <p:txBody>
          <a:bodyPr wrap="square" anchor="t" lIns="45720" rIns="45720" tIns="27432" bIns="27432">
            <a:spAutoFit/>
          </a:bodyPr>
          <a:lstStyle/>
          <a:p>
            <a:pPr algn="ctr"/>
            <a:r>
              <a:rPr sz="3000" b="1" i="0">
                <a:solidFill>
                  <a:srgbClr val="1DB954"/>
                </a:solidFill>
              </a:rPr>
              <a:t>200 M</a:t>
            </a:r>
          </a:p>
        </p:txBody>
      </p:sp>
      <p:sp>
        <p:nvSpPr>
          <p:cNvPr id="14" name="TextBox 13"/>
          <p:cNvSpPr txBox="1"/>
          <p:nvPr/>
        </p:nvSpPr>
        <p:spPr>
          <a:xfrm>
            <a:off x="3291840" y="3931920"/>
            <a:ext cx="2651760" cy="457200"/>
          </a:xfrm>
          <a:prstGeom prst="rect">
            <a:avLst/>
          </a:prstGeom>
          <a:noFill/>
        </p:spPr>
        <p:txBody>
          <a:bodyPr wrap="square" anchor="t" lIns="45720" rIns="45720" tIns="27432" bIns="27432">
            <a:spAutoFit/>
          </a:bodyPr>
          <a:lstStyle/>
          <a:p>
            <a:pPr algn="ctr"/>
            <a:r>
              <a:rPr sz="1200" b="0" i="0">
                <a:solidFill>
                  <a:srgbClr val="B3B3B3"/>
                </a:solidFill>
              </a:rPr>
              <a:t>abonnés premium</a:t>
            </a:r>
          </a:p>
        </p:txBody>
      </p:sp>
      <p:sp>
        <p:nvSpPr>
          <p:cNvPr id="15" name="Rectangle 14"/>
          <p:cNvSpPr/>
          <p:nvPr/>
        </p:nvSpPr>
        <p:spPr>
          <a:xfrm>
            <a:off x="6126480" y="3108960"/>
            <a:ext cx="2651760" cy="1371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3108960"/>
            <a:ext cx="26517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3246120"/>
            <a:ext cx="2651760" cy="731520"/>
          </a:xfrm>
          <a:prstGeom prst="rect">
            <a:avLst/>
          </a:prstGeom>
          <a:noFill/>
        </p:spPr>
        <p:txBody>
          <a:bodyPr wrap="square" anchor="t" lIns="45720" rIns="45720" tIns="27432" bIns="27432">
            <a:spAutoFit/>
          </a:bodyPr>
          <a:lstStyle/>
          <a:p>
            <a:pPr algn="ctr"/>
            <a:r>
              <a:rPr sz="3000" b="1" i="0">
                <a:solidFill>
                  <a:srgbClr val="1DB954"/>
                </a:solidFill>
              </a:rPr>
              <a:t>180+</a:t>
            </a:r>
          </a:p>
        </p:txBody>
      </p:sp>
      <p:sp>
        <p:nvSpPr>
          <p:cNvPr id="18" name="TextBox 17"/>
          <p:cNvSpPr txBox="1"/>
          <p:nvPr/>
        </p:nvSpPr>
        <p:spPr>
          <a:xfrm>
            <a:off x="6126480" y="3931920"/>
            <a:ext cx="2651760" cy="457200"/>
          </a:xfrm>
          <a:prstGeom prst="rect">
            <a:avLst/>
          </a:prstGeom>
          <a:noFill/>
        </p:spPr>
        <p:txBody>
          <a:bodyPr wrap="square" anchor="t" lIns="45720" rIns="45720" tIns="27432" bIns="27432">
            <a:spAutoFit/>
          </a:bodyPr>
          <a:lstStyle/>
          <a:p>
            <a:pPr algn="ctr"/>
            <a:r>
              <a:rPr sz="1200" b="0" i="0">
                <a:solidFill>
                  <a:srgbClr val="B3B3B3"/>
                </a:solidFill>
              </a:rPr>
              <a:t>pays</a:t>
            </a:r>
          </a:p>
        </p:txBody>
      </p:sp>
      <p:sp>
        <p:nvSpPr>
          <p:cNvPr id="19" name="Rectangle 18"/>
          <p:cNvSpPr/>
          <p:nvPr/>
        </p:nvSpPr>
        <p:spPr>
          <a:xfrm>
            <a:off x="8961120" y="3108960"/>
            <a:ext cx="2651760" cy="1371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3108960"/>
            <a:ext cx="26517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0" y="3246120"/>
            <a:ext cx="2651760" cy="731520"/>
          </a:xfrm>
          <a:prstGeom prst="rect">
            <a:avLst/>
          </a:prstGeom>
          <a:noFill/>
        </p:spPr>
        <p:txBody>
          <a:bodyPr wrap="square" anchor="t" lIns="45720" rIns="45720" tIns="27432" bIns="27432">
            <a:spAutoFit/>
          </a:bodyPr>
          <a:lstStyle/>
          <a:p>
            <a:pPr algn="ctr"/>
            <a:r>
              <a:rPr sz="3000" b="1" i="0">
                <a:solidFill>
                  <a:srgbClr val="1DB954"/>
                </a:solidFill>
              </a:rPr>
              <a:t>3,4 → 4,2</a:t>
            </a:r>
          </a:p>
        </p:txBody>
      </p:sp>
      <p:sp>
        <p:nvSpPr>
          <p:cNvPr id="22" name="TextBox 21"/>
          <p:cNvSpPr txBox="1"/>
          <p:nvPr/>
        </p:nvSpPr>
        <p:spPr>
          <a:xfrm>
            <a:off x="8961120" y="3931920"/>
            <a:ext cx="2651760" cy="457200"/>
          </a:xfrm>
          <a:prstGeom prst="rect">
            <a:avLst/>
          </a:prstGeom>
          <a:noFill/>
        </p:spPr>
        <p:txBody>
          <a:bodyPr wrap="square" anchor="t" lIns="45720" rIns="45720" tIns="27432" bIns="27432">
            <a:spAutoFit/>
          </a:bodyPr>
          <a:lstStyle/>
          <a:p>
            <a:pPr algn="ctr"/>
            <a:r>
              <a:rPr sz="1200" b="0" i="0">
                <a:solidFill>
                  <a:srgbClr val="B3B3B3"/>
                </a:solidFill>
              </a:rPr>
              <a:t>maturité data /5 (M12)</a:t>
            </a:r>
          </a:p>
        </p:txBody>
      </p:sp>
      <p:sp>
        <p:nvSpPr>
          <p:cNvPr id="23" name="Rectangle 22"/>
          <p:cNvSpPr/>
          <p:nvPr/>
        </p:nvSpPr>
        <p:spPr>
          <a:xfrm>
            <a:off x="457200" y="4754880"/>
            <a:ext cx="11247120" cy="82296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846320"/>
            <a:ext cx="10972800" cy="640080"/>
          </a:xfrm>
          <a:prstGeom prst="rect">
            <a:avLst/>
          </a:prstGeom>
          <a:noFill/>
        </p:spPr>
        <p:txBody>
          <a:bodyPr wrap="square" anchor="ctr" lIns="45720" rIns="45720" tIns="27432" bIns="27432">
            <a:spAutoFit/>
          </a:bodyPr>
          <a:lstStyle/>
          <a:p>
            <a:pPr algn="l"/>
            <a:r>
              <a:rPr sz="1300" b="0" i="0">
                <a:solidFill>
                  <a:srgbClr val="FFFFFF"/>
                </a:solidFill>
              </a:rPr>
              <a:t>Un framework fondé sur les 9 principes du Governance Principles Guide · modèle Centre of Excellence · pilote User Data en 4 mois · 3 décisions à prendre aujourd'hui</a:t>
            </a:r>
          </a:p>
        </p:txBody>
      </p:sp>
      <p:sp>
        <p:nvSpPr>
          <p:cNvPr id="25" name="Rectangle 24"/>
          <p:cNvSpPr/>
          <p:nvPr/>
        </p:nvSpPr>
        <p:spPr>
          <a:xfrm>
            <a:off x="0" y="5852160"/>
            <a:ext cx="12188952" cy="7315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989320"/>
            <a:ext cx="9144000" cy="457200"/>
          </a:xfrm>
          <a:prstGeom prst="rect">
            <a:avLst/>
          </a:prstGeom>
          <a:noFill/>
        </p:spPr>
        <p:txBody>
          <a:bodyPr wrap="square" anchor="t" lIns="45720" rIns="45720" tIns="27432" bIns="27432">
            <a:spAutoFit/>
          </a:bodyPr>
          <a:lstStyle/>
          <a:p>
            <a:pPr algn="l"/>
            <a:r>
              <a:rPr sz="1200" b="0" i="0">
                <a:solidFill>
                  <a:srgbClr val="B3B3B3"/>
                </a:solidFill>
              </a:rPr>
              <a:t>Présentation executive — Septembre 2026  |  Emeline ROBLOT — Data Governance Specialist</a:t>
            </a:r>
          </a:p>
        </p:txBody>
      </p:sp>
      <p:sp>
        <p:nvSpPr>
          <p:cNvPr id="27" name="TextBox 26"/>
          <p:cNvSpPr txBox="1"/>
          <p:nvPr/>
        </p:nvSpPr>
        <p:spPr>
          <a:xfrm>
            <a:off x="9144000" y="5989320"/>
            <a:ext cx="2651760" cy="457200"/>
          </a:xfrm>
          <a:prstGeom prst="rect">
            <a:avLst/>
          </a:prstGeom>
          <a:noFill/>
        </p:spPr>
        <p:txBody>
          <a:bodyPr wrap="square" anchor="t" lIns="45720" rIns="45720" tIns="27432" bIns="27432">
            <a:spAutoFit/>
          </a:bodyPr>
          <a:lstStyle/>
          <a:p>
            <a:pPr algn="r"/>
            <a:r>
              <a:rPr sz="1200" b="1" i="0">
                <a:solidFill>
                  <a:srgbClr val="1DB954"/>
                </a:solidFill>
              </a:rPr>
              <a:t>9 slides · 15 min + Q&amp;A</a:t>
            </a:r>
          </a:p>
        </p:txBody>
      </p:sp>
      <p:sp>
        <p:nvSpPr>
          <p:cNvPr id="28" name="TextBox 27"/>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29" name="TextBox 28"/>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1 /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Pourquoi agir maintenant ?</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3 signaux d'alarme — et un précédent</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603504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6035040" cy="73152"/>
          </a:xfrm>
          <a:prstGeom prst="rect">
            <a:avLst/>
          </a:prstGeom>
          <a:solidFill>
            <a:srgbClr val="FF4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5852159" cy="411480"/>
          </a:xfrm>
          <a:prstGeom prst="rect">
            <a:avLst/>
          </a:prstGeom>
          <a:noFill/>
        </p:spPr>
        <p:txBody>
          <a:bodyPr wrap="square" anchor="t" lIns="45720" rIns="45720" tIns="27432" bIns="27432">
            <a:spAutoFit/>
          </a:bodyPr>
          <a:lstStyle/>
          <a:p>
            <a:pPr algn="l"/>
            <a:r>
              <a:rPr sz="1400" b="1" i="0">
                <a:solidFill>
                  <a:srgbClr val="FF4C4C"/>
                </a:solidFill>
              </a:rPr>
              <a:t>Risque réglementaire</a:t>
            </a:r>
          </a:p>
        </p:txBody>
      </p:sp>
      <p:sp>
        <p:nvSpPr>
          <p:cNvPr id="10" name="TextBox 9"/>
          <p:cNvSpPr txBox="1"/>
          <p:nvPr/>
        </p:nvSpPr>
        <p:spPr>
          <a:xfrm>
            <a:off x="457200" y="1920240"/>
            <a:ext cx="5852160" cy="960120"/>
          </a:xfrm>
          <a:prstGeom prst="rect">
            <a:avLst/>
          </a:prstGeom>
          <a:noFill/>
        </p:spPr>
        <p:txBody>
          <a:bodyPr wrap="square" lIns="45720" rIns="45720">
            <a:spAutoFit/>
          </a:bodyPr>
          <a:lstStyle/>
          <a:p>
            <a:pPr>
              <a:spcBef>
                <a:spcPts val="300"/>
              </a:spcBef>
            </a:pPr>
            <a:r>
              <a:rPr sz="1100" b="0">
                <a:solidFill>
                  <a:srgbClr val="FFFFFF"/>
                </a:solidFill>
              </a:rPr>
              <a:t>•  GDPR : jusqu'à 4 % du CA mondial ≈ 530 M€ (CA 2023 : 13,25 Md€)</a:t>
            </a:r>
          </a:p>
          <a:p>
            <a:pPr>
              <a:spcBef>
                <a:spcPts val="300"/>
              </a:spcBef>
            </a:pPr>
            <a:r>
              <a:rPr sz="1100" b="0">
                <a:solidFill>
                  <a:srgbClr val="FFFFFF"/>
                </a:solidFill>
              </a:rPr>
              <a:t>•  Notification de violation sous 72 h · CCPA/CPRA · PDPA · LGPD · DSA</a:t>
            </a:r>
          </a:p>
          <a:p>
            <a:pPr>
              <a:spcBef>
                <a:spcPts val="300"/>
              </a:spcBef>
            </a:pPr>
            <a:r>
              <a:rPr sz="1100" b="1">
                <a:solidFill>
                  <a:srgbClr val="FFFFFF"/>
                </a:solidFill>
              </a:rPr>
              <a:t>•  Précédent : IMY, juin 2023 — 58 M SEK (≈ 5 M€) pour un droit d'accès insuffisamment clair</a:t>
            </a:r>
          </a:p>
        </p:txBody>
      </p:sp>
      <p:sp>
        <p:nvSpPr>
          <p:cNvPr id="11" name="Rectangle 10"/>
          <p:cNvSpPr/>
          <p:nvPr/>
        </p:nvSpPr>
        <p:spPr>
          <a:xfrm>
            <a:off x="365760" y="3044952"/>
            <a:ext cx="603504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044952"/>
            <a:ext cx="6035040" cy="73152"/>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154680"/>
            <a:ext cx="5852159" cy="411480"/>
          </a:xfrm>
          <a:prstGeom prst="rect">
            <a:avLst/>
          </a:prstGeom>
          <a:noFill/>
        </p:spPr>
        <p:txBody>
          <a:bodyPr wrap="square" anchor="t" lIns="45720" rIns="45720" tIns="27432" bIns="27432">
            <a:spAutoFit/>
          </a:bodyPr>
          <a:lstStyle/>
          <a:p>
            <a:pPr algn="l"/>
            <a:r>
              <a:rPr sz="1400" b="1" i="0">
                <a:solidFill>
                  <a:srgbClr val="E8871E"/>
                </a:solidFill>
              </a:rPr>
              <a:t>Silos qui freinent le business</a:t>
            </a:r>
          </a:p>
        </p:txBody>
      </p:sp>
      <p:sp>
        <p:nvSpPr>
          <p:cNvPr id="14" name="TextBox 13"/>
          <p:cNvSpPr txBox="1"/>
          <p:nvPr/>
        </p:nvSpPr>
        <p:spPr>
          <a:xfrm>
            <a:off x="457200" y="3547872"/>
            <a:ext cx="5852160" cy="960120"/>
          </a:xfrm>
          <a:prstGeom prst="rect">
            <a:avLst/>
          </a:prstGeom>
          <a:noFill/>
        </p:spPr>
        <p:txBody>
          <a:bodyPr wrap="square" lIns="45720" rIns="45720">
            <a:spAutoFit/>
          </a:bodyPr>
          <a:lstStyle/>
          <a:p>
            <a:pPr>
              <a:spcBef>
                <a:spcPts val="300"/>
              </a:spcBef>
            </a:pPr>
            <a:r>
              <a:rPr sz="1100" b="0">
                <a:solidFill>
                  <a:srgbClr val="FFFFFF"/>
                </a:solidFill>
              </a:rPr>
              <a:t>•  Marketing, Product, Engineering, Content gèrent leurs propres datasets</a:t>
            </a:r>
          </a:p>
          <a:p>
            <a:pPr>
              <a:spcBef>
                <a:spcPts val="300"/>
              </a:spcBef>
            </a:pPr>
            <a:r>
              <a:rPr sz="1100" b="0">
                <a:solidFill>
                  <a:srgbClr val="FFFFFF"/>
                </a:solidFill>
              </a:rPr>
              <a:t>•  « Utilisateur actif » : définition différente selon les équipes</a:t>
            </a:r>
          </a:p>
          <a:p>
            <a:pPr>
              <a:spcBef>
                <a:spcPts val="300"/>
              </a:spcBef>
            </a:pPr>
            <a:r>
              <a:rPr sz="1100" b="0">
                <a:solidFill>
                  <a:srgbClr val="FFFFFF"/>
                </a:solidFill>
              </a:rPr>
              <a:t>•  Parcours découverte → premium impossible à reconstituer</a:t>
            </a:r>
          </a:p>
        </p:txBody>
      </p:sp>
      <p:sp>
        <p:nvSpPr>
          <p:cNvPr id="15" name="Rectangle 14"/>
          <p:cNvSpPr/>
          <p:nvPr/>
        </p:nvSpPr>
        <p:spPr>
          <a:xfrm>
            <a:off x="365760" y="4672584"/>
            <a:ext cx="603504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4672584"/>
            <a:ext cx="6035040" cy="73152"/>
          </a:xfrm>
          <a:prstGeom prst="rect">
            <a:avLst/>
          </a:prstGeom>
          <a:solidFill>
            <a:srgbClr val="64B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782312"/>
            <a:ext cx="5852159" cy="411480"/>
          </a:xfrm>
          <a:prstGeom prst="rect">
            <a:avLst/>
          </a:prstGeom>
          <a:noFill/>
        </p:spPr>
        <p:txBody>
          <a:bodyPr wrap="square" anchor="t" lIns="45720" rIns="45720" tIns="27432" bIns="27432">
            <a:spAutoFit/>
          </a:bodyPr>
          <a:lstStyle/>
          <a:p>
            <a:pPr algn="l"/>
            <a:r>
              <a:rPr sz="1400" b="1" i="0">
                <a:solidFill>
                  <a:srgbClr val="64B5F6"/>
                </a:solidFill>
              </a:rPr>
              <a:t>Confiance et éthique</a:t>
            </a:r>
          </a:p>
        </p:txBody>
      </p:sp>
      <p:sp>
        <p:nvSpPr>
          <p:cNvPr id="18" name="TextBox 17"/>
          <p:cNvSpPr txBox="1"/>
          <p:nvPr/>
        </p:nvSpPr>
        <p:spPr>
          <a:xfrm>
            <a:off x="457200" y="5175504"/>
            <a:ext cx="5852160" cy="960120"/>
          </a:xfrm>
          <a:prstGeom prst="rect">
            <a:avLst/>
          </a:prstGeom>
          <a:noFill/>
        </p:spPr>
        <p:txBody>
          <a:bodyPr wrap="square" lIns="45720" rIns="45720">
            <a:spAutoFit/>
          </a:bodyPr>
          <a:lstStyle/>
          <a:p>
            <a:pPr>
              <a:spcBef>
                <a:spcPts val="300"/>
              </a:spcBef>
            </a:pPr>
            <a:r>
              <a:rPr sz="1100" b="0">
                <a:solidFill>
                  <a:srgbClr val="FFFFFF"/>
                </a:solidFill>
              </a:rPr>
              <a:t>•  Utilisateurs et régulateurs attendent transparence et contrôle</a:t>
            </a:r>
          </a:p>
          <a:p>
            <a:pPr>
              <a:spcBef>
                <a:spcPts val="300"/>
              </a:spcBef>
            </a:pPr>
            <a:r>
              <a:rPr sz="1100" b="0">
                <a:solidFill>
                  <a:srgbClr val="FFFFFF"/>
                </a:solidFill>
              </a:rPr>
              <a:t>•  Recommandations non auditées pour les biais (DSA art. 27)</a:t>
            </a:r>
          </a:p>
          <a:p>
            <a:pPr>
              <a:spcBef>
                <a:spcPts val="300"/>
              </a:spcBef>
            </a:pPr>
            <a:r>
              <a:rPr sz="1100" b="0">
                <a:solidFill>
                  <a:srgbClr val="FFFFFF"/>
                </a:solidFill>
              </a:rPr>
              <a:t>•  Concurrence : Apple Music, Amazon Music, YouTube Music</a:t>
            </a:r>
          </a:p>
        </p:txBody>
      </p:sp>
      <p:sp>
        <p:nvSpPr>
          <p:cNvPr id="19" name="Rectangle 18"/>
          <p:cNvSpPr/>
          <p:nvPr/>
        </p:nvSpPr>
        <p:spPr>
          <a:xfrm>
            <a:off x="6583680" y="1417320"/>
            <a:ext cx="521208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radar-maturite-dark.png"/>
          <p:cNvPicPr>
            <a:picLocks noChangeAspect="1"/>
          </p:cNvPicPr>
          <p:nvPr/>
        </p:nvPicPr>
        <p:blipFill>
          <a:blip r:embed="rId2"/>
          <a:stretch>
            <a:fillRect/>
          </a:stretch>
        </p:blipFill>
        <p:spPr>
          <a:xfrm>
            <a:off x="6720840" y="1463040"/>
            <a:ext cx="4715691" cy="4343400"/>
          </a:xfrm>
          <a:prstGeom prst="rect">
            <a:avLst/>
          </a:prstGeom>
        </p:spPr>
      </p:pic>
      <p:sp>
        <p:nvSpPr>
          <p:cNvPr id="21" name="TextBox 20"/>
          <p:cNvSpPr txBox="1"/>
          <p:nvPr/>
        </p:nvSpPr>
        <p:spPr>
          <a:xfrm>
            <a:off x="6583680" y="5852160"/>
            <a:ext cx="5212080" cy="365760"/>
          </a:xfrm>
          <a:prstGeom prst="rect">
            <a:avLst/>
          </a:prstGeom>
          <a:noFill/>
        </p:spPr>
        <p:txBody>
          <a:bodyPr wrap="square" anchor="t" lIns="45720" rIns="45720" tIns="27432" bIns="27432">
            <a:spAutoFit/>
          </a:bodyPr>
          <a:lstStyle/>
          <a:p>
            <a:pPr algn="ctr"/>
            <a:r>
              <a:rPr sz="1100" b="1" i="0">
                <a:solidFill>
                  <a:srgbClr val="1DB954"/>
                </a:solidFill>
              </a:rPr>
              <a:t>Maturité data : 3,4 / 5 — Governance 2 · Compliance 3 · Quality 3</a:t>
            </a:r>
          </a:p>
        </p:txBody>
      </p:sp>
      <p:sp>
        <p:nvSpPr>
          <p:cNvPr id="22" name="TextBox 21"/>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23" name="TextBox 22"/>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Le framework : 3 piliers, 9 principes</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Source : Governance Principles Guide — regroupés pour l'action</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3703320" cy="40690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370332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3520439" cy="411480"/>
          </a:xfrm>
          <a:prstGeom prst="rect">
            <a:avLst/>
          </a:prstGeom>
          <a:noFill/>
        </p:spPr>
        <p:txBody>
          <a:bodyPr wrap="square" anchor="t" lIns="45720" rIns="45720" tIns="27432" bIns="27432">
            <a:spAutoFit/>
          </a:bodyPr>
          <a:lstStyle/>
          <a:p>
            <a:pPr algn="l"/>
            <a:r>
              <a:rPr sz="1400" b="1" i="0">
                <a:solidFill>
                  <a:srgbClr val="1DB954"/>
                </a:solidFill>
              </a:rPr>
              <a:t>Qualité &amp; accessibilité</a:t>
            </a:r>
          </a:p>
        </p:txBody>
      </p:sp>
      <p:sp>
        <p:nvSpPr>
          <p:cNvPr id="10" name="Rounded Rectangle 9"/>
          <p:cNvSpPr/>
          <p:nvPr/>
        </p:nvSpPr>
        <p:spPr>
          <a:xfrm>
            <a:off x="502920" y="1920240"/>
            <a:ext cx="1207008"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Data Quality</a:t>
            </a:r>
          </a:p>
        </p:txBody>
      </p:sp>
      <p:sp>
        <p:nvSpPr>
          <p:cNvPr id="11" name="Rounded Rectangle 10"/>
          <p:cNvSpPr/>
          <p:nvPr/>
        </p:nvSpPr>
        <p:spPr>
          <a:xfrm>
            <a:off x="1801368" y="1920240"/>
            <a:ext cx="1362456"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Accountability</a:t>
            </a:r>
          </a:p>
        </p:txBody>
      </p:sp>
      <p:sp>
        <p:nvSpPr>
          <p:cNvPr id="12" name="Rounded Rectangle 11"/>
          <p:cNvSpPr/>
          <p:nvPr/>
        </p:nvSpPr>
        <p:spPr>
          <a:xfrm>
            <a:off x="502920" y="2304288"/>
            <a:ext cx="1984248"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Continuous Improvement</a:t>
            </a:r>
          </a:p>
        </p:txBody>
      </p:sp>
      <p:sp>
        <p:nvSpPr>
          <p:cNvPr id="13" name="TextBox 12"/>
          <p:cNvSpPr txBox="1"/>
          <p:nvPr/>
        </p:nvSpPr>
        <p:spPr>
          <a:xfrm>
            <a:off x="457200" y="2761488"/>
            <a:ext cx="3520440" cy="3090672"/>
          </a:xfrm>
          <a:prstGeom prst="rect">
            <a:avLst/>
          </a:prstGeom>
          <a:noFill/>
        </p:spPr>
        <p:txBody>
          <a:bodyPr wrap="square" lIns="45720" rIns="45720">
            <a:spAutoFit/>
          </a:bodyPr>
          <a:lstStyle/>
          <a:p>
            <a:pPr>
              <a:spcBef>
                <a:spcPts val="1000"/>
              </a:spcBef>
            </a:pPr>
            <a:r>
              <a:rPr sz="1300" b="0">
                <a:solidFill>
                  <a:srgbClr val="FFFFFF"/>
                </a:solidFill>
              </a:rPr>
              <a:t>•  5 domaines (User, Content, Payments, Ads, Marketing), 1 Data Steward chacun</a:t>
            </a:r>
          </a:p>
          <a:p>
            <a:pPr>
              <a:spcBef>
                <a:spcPts val="1000"/>
              </a:spcBef>
            </a:pPr>
            <a:r>
              <a:rPr sz="1300" b="0">
                <a:solidFill>
                  <a:srgbClr val="FFFFFF"/>
                </a:solidFill>
              </a:rPr>
              <a:t>•  4 critères mesurés : complétude, exactitude, cohérence, fraîcheur</a:t>
            </a:r>
          </a:p>
          <a:p>
            <a:pPr>
              <a:spcBef>
                <a:spcPts val="1000"/>
              </a:spcBef>
            </a:pPr>
            <a:r>
              <a:rPr sz="1300" b="0">
                <a:solidFill>
                  <a:srgbClr val="FFFFFF"/>
                </a:solidFill>
              </a:rPr>
              <a:t>•  Catalogue unique, accès par classification, données pseudonymisées par défaut</a:t>
            </a:r>
          </a:p>
        </p:txBody>
      </p:sp>
      <p:sp>
        <p:nvSpPr>
          <p:cNvPr id="14" name="Rectangle 13"/>
          <p:cNvSpPr/>
          <p:nvPr/>
        </p:nvSpPr>
        <p:spPr>
          <a:xfrm>
            <a:off x="4206240" y="1417320"/>
            <a:ext cx="3703320" cy="40690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06240" y="1417320"/>
            <a:ext cx="370332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1527048"/>
            <a:ext cx="3520439" cy="411480"/>
          </a:xfrm>
          <a:prstGeom prst="rect">
            <a:avLst/>
          </a:prstGeom>
          <a:noFill/>
        </p:spPr>
        <p:txBody>
          <a:bodyPr wrap="square" anchor="t" lIns="45720" rIns="45720" tIns="27432" bIns="27432">
            <a:spAutoFit/>
          </a:bodyPr>
          <a:lstStyle/>
          <a:p>
            <a:pPr algn="l"/>
            <a:r>
              <a:rPr sz="1400" b="1" i="0">
                <a:solidFill>
                  <a:srgbClr val="1DB954"/>
                </a:solidFill>
              </a:rPr>
              <a:t>Conformité &amp; sécurité</a:t>
            </a:r>
          </a:p>
        </p:txBody>
      </p:sp>
      <p:sp>
        <p:nvSpPr>
          <p:cNvPr id="17" name="Rounded Rectangle 16"/>
          <p:cNvSpPr/>
          <p:nvPr/>
        </p:nvSpPr>
        <p:spPr>
          <a:xfrm>
            <a:off x="4343400" y="1920240"/>
            <a:ext cx="1051560"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Compliance</a:t>
            </a:r>
          </a:p>
        </p:txBody>
      </p:sp>
      <p:sp>
        <p:nvSpPr>
          <p:cNvPr id="18" name="Rounded Rectangle 17"/>
          <p:cNvSpPr/>
          <p:nvPr/>
        </p:nvSpPr>
        <p:spPr>
          <a:xfrm>
            <a:off x="5486400" y="1920240"/>
            <a:ext cx="1284732"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Data Security</a:t>
            </a:r>
          </a:p>
        </p:txBody>
      </p:sp>
      <p:sp>
        <p:nvSpPr>
          <p:cNvPr id="19" name="Rounded Rectangle 18"/>
          <p:cNvSpPr/>
          <p:nvPr/>
        </p:nvSpPr>
        <p:spPr>
          <a:xfrm>
            <a:off x="4343400" y="2304288"/>
            <a:ext cx="1595628"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Data Minimization</a:t>
            </a:r>
          </a:p>
        </p:txBody>
      </p:sp>
      <p:sp>
        <p:nvSpPr>
          <p:cNvPr id="20" name="Rounded Rectangle 19"/>
          <p:cNvSpPr/>
          <p:nvPr/>
        </p:nvSpPr>
        <p:spPr>
          <a:xfrm>
            <a:off x="6030468" y="2304288"/>
            <a:ext cx="1129284"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User Rights</a:t>
            </a:r>
          </a:p>
        </p:txBody>
      </p:sp>
      <p:sp>
        <p:nvSpPr>
          <p:cNvPr id="21" name="Rounded Rectangle 20"/>
          <p:cNvSpPr/>
          <p:nvPr/>
        </p:nvSpPr>
        <p:spPr>
          <a:xfrm>
            <a:off x="4343400" y="2688336"/>
            <a:ext cx="1207008"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Transparency</a:t>
            </a:r>
          </a:p>
        </p:txBody>
      </p:sp>
      <p:sp>
        <p:nvSpPr>
          <p:cNvPr id="22" name="TextBox 21"/>
          <p:cNvSpPr txBox="1"/>
          <p:nvPr/>
        </p:nvSpPr>
        <p:spPr>
          <a:xfrm>
            <a:off x="4297680" y="3145536"/>
            <a:ext cx="3520440" cy="2706624"/>
          </a:xfrm>
          <a:prstGeom prst="rect">
            <a:avLst/>
          </a:prstGeom>
          <a:noFill/>
        </p:spPr>
        <p:txBody>
          <a:bodyPr wrap="square" lIns="45720" rIns="45720">
            <a:spAutoFit/>
          </a:bodyPr>
          <a:lstStyle/>
          <a:p>
            <a:pPr>
              <a:spcBef>
                <a:spcPts val="1000"/>
              </a:spcBef>
            </a:pPr>
            <a:r>
              <a:rPr sz="1300" b="0">
                <a:solidFill>
                  <a:srgbClr val="FFFFFF"/>
                </a:solidFill>
              </a:rPr>
              <a:t>•  Base légale documentée par finalité (contrat, intérêt légitime, consentement)</a:t>
            </a:r>
          </a:p>
          <a:p>
            <a:pPr>
              <a:spcBef>
                <a:spcPts val="1000"/>
              </a:spcBef>
            </a:pPr>
            <a:r>
              <a:rPr sz="1300" b="0">
                <a:solidFill>
                  <a:srgbClr val="FFFFFF"/>
                </a:solidFill>
              </a:rPr>
              <a:t>•  7 droits couverts avec SLA, DPIA avant tout traitement à risque</a:t>
            </a:r>
          </a:p>
          <a:p>
            <a:pPr>
              <a:spcBef>
                <a:spcPts val="1000"/>
              </a:spcBef>
            </a:pPr>
            <a:r>
              <a:rPr sz="1300" b="0">
                <a:solidFill>
                  <a:srgbClr val="FFFFFF"/>
                </a:solidFill>
              </a:rPr>
              <a:t>•  Classification 4 niveaux, chiffrement, SIEM, rétention définie</a:t>
            </a:r>
          </a:p>
        </p:txBody>
      </p:sp>
      <p:sp>
        <p:nvSpPr>
          <p:cNvPr id="23" name="Rectangle 22"/>
          <p:cNvSpPr/>
          <p:nvPr/>
        </p:nvSpPr>
        <p:spPr>
          <a:xfrm>
            <a:off x="8046720" y="1417320"/>
            <a:ext cx="3703320" cy="40690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1417320"/>
            <a:ext cx="370332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1527048"/>
            <a:ext cx="3520439" cy="411480"/>
          </a:xfrm>
          <a:prstGeom prst="rect">
            <a:avLst/>
          </a:prstGeom>
          <a:noFill/>
        </p:spPr>
        <p:txBody>
          <a:bodyPr wrap="square" anchor="t" lIns="45720" rIns="45720" tIns="27432" bIns="27432">
            <a:spAutoFit/>
          </a:bodyPr>
          <a:lstStyle/>
          <a:p>
            <a:pPr algn="l"/>
            <a:r>
              <a:rPr sz="1400" b="1" i="0">
                <a:solidFill>
                  <a:srgbClr val="1DB954"/>
                </a:solidFill>
              </a:rPr>
              <a:t>Culture &amp; éthique</a:t>
            </a:r>
          </a:p>
        </p:txBody>
      </p:sp>
      <p:sp>
        <p:nvSpPr>
          <p:cNvPr id="26" name="Rounded Rectangle 25"/>
          <p:cNvSpPr/>
          <p:nvPr/>
        </p:nvSpPr>
        <p:spPr>
          <a:xfrm>
            <a:off x="8183880" y="1920240"/>
            <a:ext cx="1129284"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Ethical Use</a:t>
            </a:r>
          </a:p>
        </p:txBody>
      </p:sp>
      <p:sp>
        <p:nvSpPr>
          <p:cNvPr id="27" name="Rounded Rectangle 26"/>
          <p:cNvSpPr/>
          <p:nvPr/>
        </p:nvSpPr>
        <p:spPr>
          <a:xfrm>
            <a:off x="9404604" y="1920240"/>
            <a:ext cx="1984248" cy="310896"/>
          </a:xfrm>
          <a:prstGeom prst="round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a:solidFill>
                  <a:srgbClr val="1DB954"/>
                </a:solidFill>
              </a:rPr>
              <a:t>Continuous Improvement</a:t>
            </a:r>
          </a:p>
        </p:txBody>
      </p:sp>
      <p:sp>
        <p:nvSpPr>
          <p:cNvPr id="28" name="TextBox 27"/>
          <p:cNvSpPr txBox="1"/>
          <p:nvPr/>
        </p:nvSpPr>
        <p:spPr>
          <a:xfrm>
            <a:off x="8138160" y="2377440"/>
            <a:ext cx="3520440" cy="3474720"/>
          </a:xfrm>
          <a:prstGeom prst="rect">
            <a:avLst/>
          </a:prstGeom>
          <a:noFill/>
        </p:spPr>
        <p:txBody>
          <a:bodyPr wrap="square" lIns="45720" rIns="45720">
            <a:spAutoFit/>
          </a:bodyPr>
          <a:lstStyle/>
          <a:p>
            <a:pPr>
              <a:spcBef>
                <a:spcPts val="1000"/>
              </a:spcBef>
            </a:pPr>
            <a:r>
              <a:rPr sz="1300" b="0">
                <a:solidFill>
                  <a:srgbClr val="FFFFFF"/>
                </a:solidFill>
              </a:rPr>
              <a:t>•  Formation par rôle, &gt; 90 % des employés formés</a:t>
            </a:r>
          </a:p>
          <a:p>
            <a:pPr>
              <a:spcBef>
                <a:spcPts val="1000"/>
              </a:spcBef>
            </a:pPr>
            <a:r>
              <a:rPr sz="1300" b="0">
                <a:solidFill>
                  <a:srgbClr val="FFFFFF"/>
                </a:solidFill>
              </a:rPr>
              <a:t>•  Audit trimestriel des biais de recommandation, explicabilité</a:t>
            </a:r>
          </a:p>
          <a:p>
            <a:pPr>
              <a:spcBef>
                <a:spcPts val="1000"/>
              </a:spcBef>
            </a:pPr>
            <a:r>
              <a:rPr sz="1300" b="0">
                <a:solidFill>
                  <a:srgbClr val="FFFFFF"/>
                </a:solidFill>
              </a:rPr>
              <a:t>•  Pas de profilage sur catégories sensibles inférées</a:t>
            </a:r>
          </a:p>
        </p:txBody>
      </p:sp>
      <p:sp>
        <p:nvSpPr>
          <p:cNvPr id="29" name="Rectangle 28"/>
          <p:cNvSpPr/>
          <p:nvPr/>
        </p:nvSpPr>
        <p:spPr>
          <a:xfrm>
            <a:off x="365760" y="5623560"/>
            <a:ext cx="11430000" cy="64008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669280"/>
            <a:ext cx="11155680" cy="548640"/>
          </a:xfrm>
          <a:prstGeom prst="rect">
            <a:avLst/>
          </a:prstGeom>
          <a:noFill/>
        </p:spPr>
        <p:txBody>
          <a:bodyPr wrap="square" anchor="ctr" lIns="45720" rIns="45720" tIns="27432" bIns="27432">
            <a:spAutoFit/>
          </a:bodyPr>
          <a:lstStyle/>
          <a:p>
            <a:pPr algn="l"/>
            <a:r>
              <a:rPr sz="1200" b="0" i="0">
                <a:solidFill>
                  <a:srgbClr val="FFFFFF"/>
                </a:solidFill>
              </a:rPr>
              <a:t>4 objectifs du business case couverts : Qualité · Conformité · Privacy · Accessibilité &amp; intégration  —  Data Governance Policy v1.0 : 3 pages, 7 sections, RACI, checklist annexée</a:t>
            </a:r>
          </a:p>
        </p:txBody>
      </p:sp>
      <p:sp>
        <p:nvSpPr>
          <p:cNvPr id="31" name="TextBox 30"/>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32" name="TextBox 31"/>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Conformité réglementaire</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GDPR · CCPA/CPRA · PCI-DSS · réglementations locales et plateformes</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2743200" cy="374903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27432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2560320" cy="411480"/>
          </a:xfrm>
          <a:prstGeom prst="rect">
            <a:avLst/>
          </a:prstGeom>
          <a:noFill/>
        </p:spPr>
        <p:txBody>
          <a:bodyPr wrap="square" anchor="t" lIns="45720" rIns="45720" tIns="27432" bIns="27432">
            <a:spAutoFit/>
          </a:bodyPr>
          <a:lstStyle/>
          <a:p>
            <a:pPr algn="l"/>
            <a:r>
              <a:rPr sz="1300" b="1" i="0">
                <a:solidFill>
                  <a:srgbClr val="1DB954"/>
                </a:solidFill>
              </a:rPr>
              <a:t>GDPR — Union européenne</a:t>
            </a:r>
          </a:p>
        </p:txBody>
      </p:sp>
      <p:sp>
        <p:nvSpPr>
          <p:cNvPr id="10" name="TextBox 9"/>
          <p:cNvSpPr txBox="1"/>
          <p:nvPr/>
        </p:nvSpPr>
        <p:spPr>
          <a:xfrm>
            <a:off x="438912" y="1920240"/>
            <a:ext cx="2606040" cy="3200400"/>
          </a:xfrm>
          <a:prstGeom prst="rect">
            <a:avLst/>
          </a:prstGeom>
          <a:noFill/>
        </p:spPr>
        <p:txBody>
          <a:bodyPr wrap="square" lIns="45720" rIns="45720">
            <a:spAutoFit/>
          </a:bodyPr>
          <a:lstStyle/>
          <a:p>
            <a:pPr>
              <a:spcBef>
                <a:spcPts val="600"/>
              </a:spcBef>
            </a:pPr>
            <a:r>
              <a:rPr sz="1100" b="0">
                <a:solidFill>
                  <a:srgbClr val="FFFFFF"/>
                </a:solidFill>
              </a:rPr>
              <a:t>•  Base légale par finalité, registre art. 30</a:t>
            </a:r>
          </a:p>
          <a:p>
            <a:pPr>
              <a:spcBef>
                <a:spcPts val="600"/>
              </a:spcBef>
            </a:pPr>
            <a:r>
              <a:rPr sz="1100" b="0">
                <a:solidFill>
                  <a:srgbClr val="FFFFFF"/>
                </a:solidFill>
              </a:rPr>
              <a:t>•  7 droits couverts, réponse &lt; 1 mois</a:t>
            </a:r>
          </a:p>
          <a:p>
            <a:pPr>
              <a:spcBef>
                <a:spcPts val="600"/>
              </a:spcBef>
            </a:pPr>
            <a:r>
              <a:rPr sz="1100" b="0">
                <a:solidFill>
                  <a:srgbClr val="FFFFFF"/>
                </a:solidFill>
              </a:rPr>
              <a:t>•  Notification de violation &lt; 72 h</a:t>
            </a:r>
          </a:p>
          <a:p>
            <a:pPr>
              <a:spcBef>
                <a:spcPts val="600"/>
              </a:spcBef>
            </a:pPr>
            <a:r>
              <a:rPr sz="1100" b="0">
                <a:solidFill>
                  <a:srgbClr val="FFFFFF"/>
                </a:solidFill>
              </a:rPr>
              <a:t>•  DPIA avant tout traitement à risque</a:t>
            </a:r>
          </a:p>
        </p:txBody>
      </p:sp>
      <p:sp>
        <p:nvSpPr>
          <p:cNvPr id="11" name="Rectangle 10"/>
          <p:cNvSpPr/>
          <p:nvPr/>
        </p:nvSpPr>
        <p:spPr>
          <a:xfrm>
            <a:off x="3246120" y="1417320"/>
            <a:ext cx="2743200" cy="374903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1417320"/>
            <a:ext cx="27432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527048"/>
            <a:ext cx="2560320" cy="411480"/>
          </a:xfrm>
          <a:prstGeom prst="rect">
            <a:avLst/>
          </a:prstGeom>
          <a:noFill/>
        </p:spPr>
        <p:txBody>
          <a:bodyPr wrap="square" anchor="t" lIns="45720" rIns="45720" tIns="27432" bIns="27432">
            <a:spAutoFit/>
          </a:bodyPr>
          <a:lstStyle/>
          <a:p>
            <a:pPr algn="l"/>
            <a:r>
              <a:rPr sz="1300" b="1" i="0">
                <a:solidFill>
                  <a:srgbClr val="1DB954"/>
                </a:solidFill>
              </a:rPr>
              <a:t>CCPA / CPRA — Californie</a:t>
            </a:r>
          </a:p>
        </p:txBody>
      </p:sp>
      <p:sp>
        <p:nvSpPr>
          <p:cNvPr id="14" name="TextBox 13"/>
          <p:cNvSpPr txBox="1"/>
          <p:nvPr/>
        </p:nvSpPr>
        <p:spPr>
          <a:xfrm>
            <a:off x="3319272" y="1920240"/>
            <a:ext cx="2606040" cy="3200400"/>
          </a:xfrm>
          <a:prstGeom prst="rect">
            <a:avLst/>
          </a:prstGeom>
          <a:noFill/>
        </p:spPr>
        <p:txBody>
          <a:bodyPr wrap="square" lIns="45720" rIns="45720">
            <a:spAutoFit/>
          </a:bodyPr>
          <a:lstStyle/>
          <a:p>
            <a:pPr>
              <a:spcBef>
                <a:spcPts val="600"/>
              </a:spcBef>
            </a:pPr>
            <a:r>
              <a:rPr sz="1100" b="0">
                <a:solidFill>
                  <a:srgbClr val="FFFFFF"/>
                </a:solidFill>
              </a:rPr>
              <a:t>•  « Do Not Sell or Share » + signal GPC</a:t>
            </a:r>
          </a:p>
          <a:p>
            <a:pPr>
              <a:spcBef>
                <a:spcPts val="600"/>
              </a:spcBef>
            </a:pPr>
            <a:r>
              <a:rPr sz="1100" b="0">
                <a:solidFill>
                  <a:srgbClr val="FFFFFF"/>
                </a:solidFill>
              </a:rPr>
              <a:t>•  Accès, suppression, correction &lt; 45 j</a:t>
            </a:r>
          </a:p>
          <a:p>
            <a:pPr>
              <a:spcBef>
                <a:spcPts val="600"/>
              </a:spcBef>
            </a:pPr>
            <a:r>
              <a:rPr sz="1100" b="0">
                <a:solidFill>
                  <a:srgbClr val="FFFFFF"/>
                </a:solidFill>
              </a:rPr>
              <a:t>•  Non-discrimination garantie</a:t>
            </a:r>
          </a:p>
          <a:p>
            <a:pPr>
              <a:spcBef>
                <a:spcPts val="600"/>
              </a:spcBef>
            </a:pPr>
            <a:r>
              <a:rPr sz="1100" b="0">
                <a:solidFill>
                  <a:srgbClr val="FFFFFF"/>
                </a:solidFill>
              </a:rPr>
              <a:t>•  Opt-out propagé aux partenaires</a:t>
            </a:r>
          </a:p>
        </p:txBody>
      </p:sp>
      <p:sp>
        <p:nvSpPr>
          <p:cNvPr id="15" name="Rectangle 14"/>
          <p:cNvSpPr/>
          <p:nvPr/>
        </p:nvSpPr>
        <p:spPr>
          <a:xfrm>
            <a:off x="6126480" y="1417320"/>
            <a:ext cx="2743200" cy="374903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26480" y="1417320"/>
            <a:ext cx="27432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1527048"/>
            <a:ext cx="2560320" cy="411480"/>
          </a:xfrm>
          <a:prstGeom prst="rect">
            <a:avLst/>
          </a:prstGeom>
          <a:noFill/>
        </p:spPr>
        <p:txBody>
          <a:bodyPr wrap="square" anchor="t" lIns="45720" rIns="45720" tIns="27432" bIns="27432">
            <a:spAutoFit/>
          </a:bodyPr>
          <a:lstStyle/>
          <a:p>
            <a:pPr algn="l"/>
            <a:r>
              <a:rPr sz="1300" b="1" i="0">
                <a:solidFill>
                  <a:srgbClr val="1DB954"/>
                </a:solidFill>
              </a:rPr>
              <a:t>PCI-DSS — paiements</a:t>
            </a:r>
          </a:p>
        </p:txBody>
      </p:sp>
      <p:sp>
        <p:nvSpPr>
          <p:cNvPr id="18" name="TextBox 17"/>
          <p:cNvSpPr txBox="1"/>
          <p:nvPr/>
        </p:nvSpPr>
        <p:spPr>
          <a:xfrm>
            <a:off x="6199632" y="1920240"/>
            <a:ext cx="2606040" cy="3200400"/>
          </a:xfrm>
          <a:prstGeom prst="rect">
            <a:avLst/>
          </a:prstGeom>
          <a:noFill/>
        </p:spPr>
        <p:txBody>
          <a:bodyPr wrap="square" lIns="45720" rIns="45720">
            <a:spAutoFit/>
          </a:bodyPr>
          <a:lstStyle/>
          <a:p>
            <a:pPr>
              <a:spcBef>
                <a:spcPts val="600"/>
              </a:spcBef>
            </a:pPr>
            <a:r>
              <a:rPr sz="1100" b="0">
                <a:solidFill>
                  <a:srgbClr val="FFFFFF"/>
                </a:solidFill>
              </a:rPr>
              <a:t>•  Prestataire certifié, aucun n° de carte stocké</a:t>
            </a:r>
          </a:p>
          <a:p>
            <a:pPr>
              <a:spcBef>
                <a:spcPts val="600"/>
              </a:spcBef>
            </a:pPr>
            <a:r>
              <a:rPr sz="1100" b="0">
                <a:solidFill>
                  <a:srgbClr val="FFFFFF"/>
                </a:solidFill>
              </a:rPr>
              <a:t>•  SAQ-A annuel, MFA sur consoles</a:t>
            </a:r>
          </a:p>
          <a:p>
            <a:pPr>
              <a:spcBef>
                <a:spcPts val="600"/>
              </a:spcBef>
            </a:pPr>
            <a:r>
              <a:rPr sz="1100" b="0">
                <a:solidFill>
                  <a:srgbClr val="FFFFFF"/>
                </a:solidFill>
              </a:rPr>
              <a:t>•  Scans trimestriels, pentest annuel</a:t>
            </a:r>
          </a:p>
          <a:p>
            <a:pPr>
              <a:spcBef>
                <a:spcPts val="600"/>
              </a:spcBef>
            </a:pPr>
            <a:r>
              <a:rPr sz="1100" b="0">
                <a:solidFill>
                  <a:srgbClr val="FFFFFF"/>
                </a:solidFill>
              </a:rPr>
              <a:t>•  Politique de sécurité revue chaque année</a:t>
            </a:r>
          </a:p>
        </p:txBody>
      </p:sp>
      <p:sp>
        <p:nvSpPr>
          <p:cNvPr id="19" name="Rectangle 18"/>
          <p:cNvSpPr/>
          <p:nvPr/>
        </p:nvSpPr>
        <p:spPr>
          <a:xfrm>
            <a:off x="9006840" y="1417320"/>
            <a:ext cx="2743200" cy="3749039"/>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417320"/>
            <a:ext cx="27432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527048"/>
            <a:ext cx="2560320" cy="411480"/>
          </a:xfrm>
          <a:prstGeom prst="rect">
            <a:avLst/>
          </a:prstGeom>
          <a:noFill/>
        </p:spPr>
        <p:txBody>
          <a:bodyPr wrap="square" anchor="t" lIns="45720" rIns="45720" tIns="27432" bIns="27432">
            <a:spAutoFit/>
          </a:bodyPr>
          <a:lstStyle/>
          <a:p>
            <a:pPr algn="l"/>
            <a:r>
              <a:rPr sz="1300" b="1" i="0">
                <a:solidFill>
                  <a:srgbClr val="1DB954"/>
                </a:solidFill>
              </a:rPr>
              <a:t>Local &amp; plateformes</a:t>
            </a:r>
          </a:p>
        </p:txBody>
      </p:sp>
      <p:sp>
        <p:nvSpPr>
          <p:cNvPr id="22" name="TextBox 21"/>
          <p:cNvSpPr txBox="1"/>
          <p:nvPr/>
        </p:nvSpPr>
        <p:spPr>
          <a:xfrm>
            <a:off x="9079992" y="1920240"/>
            <a:ext cx="2606040" cy="3200400"/>
          </a:xfrm>
          <a:prstGeom prst="rect">
            <a:avLst/>
          </a:prstGeom>
          <a:noFill/>
        </p:spPr>
        <p:txBody>
          <a:bodyPr wrap="square" lIns="45720" rIns="45720">
            <a:spAutoFit/>
          </a:bodyPr>
          <a:lstStyle/>
          <a:p>
            <a:pPr>
              <a:spcBef>
                <a:spcPts val="600"/>
              </a:spcBef>
            </a:pPr>
            <a:r>
              <a:rPr sz="1100" b="0">
                <a:solidFill>
                  <a:srgbClr val="FFFFFF"/>
                </a:solidFill>
              </a:rPr>
              <a:t>•  PDPA Singapour · LGPD Brésil (2 % CA local)</a:t>
            </a:r>
          </a:p>
          <a:p>
            <a:pPr>
              <a:spcBef>
                <a:spcPts val="600"/>
              </a:spcBef>
            </a:pPr>
            <a:r>
              <a:rPr sz="1100" b="0">
                <a:solidFill>
                  <a:srgbClr val="FFFFFF"/>
                </a:solidFill>
              </a:rPr>
              <a:t>•  DSA art. 27 : recommandations explicables + option non profilée</a:t>
            </a:r>
          </a:p>
          <a:p>
            <a:pPr>
              <a:spcBef>
                <a:spcPts val="600"/>
              </a:spcBef>
            </a:pPr>
            <a:r>
              <a:rPr sz="1100" b="0">
                <a:solidFill>
                  <a:srgbClr val="FFFFFF"/>
                </a:solidFill>
              </a:rPr>
              <a:t>•  AI Act : obligations de transparence</a:t>
            </a:r>
          </a:p>
          <a:p>
            <a:pPr>
              <a:spcBef>
                <a:spcPts val="600"/>
              </a:spcBef>
            </a:pPr>
            <a:r>
              <a:rPr sz="1100" b="0">
                <a:solidFill>
                  <a:srgbClr val="FFFFFF"/>
                </a:solidFill>
              </a:rPr>
              <a:t>•  Veille DPO + Legal, checklist trimestrielle</a:t>
            </a:r>
          </a:p>
        </p:txBody>
      </p:sp>
      <p:sp>
        <p:nvSpPr>
          <p:cNvPr id="23" name="Rectangle 22"/>
          <p:cNvSpPr/>
          <p:nvPr/>
        </p:nvSpPr>
        <p:spPr>
          <a:xfrm>
            <a:off x="365760" y="5349240"/>
            <a:ext cx="11430000" cy="91440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394960"/>
            <a:ext cx="11155680" cy="822960"/>
          </a:xfrm>
          <a:prstGeom prst="rect">
            <a:avLst/>
          </a:prstGeom>
          <a:noFill/>
        </p:spPr>
        <p:txBody>
          <a:bodyPr wrap="square" anchor="ctr" lIns="45720" rIns="45720" tIns="27432" bIns="27432">
            <a:spAutoFit/>
          </a:bodyPr>
          <a:lstStyle/>
          <a:p>
            <a:pPr algn="l"/>
            <a:r>
              <a:rPr sz="1200" b="0" i="0">
                <a:solidFill>
                  <a:srgbClr val="FFFFFF"/>
                </a:solidFill>
              </a:rPr>
              <a:t>Outils : OneTrust (consentement, registre, DPIA, demandes) · Splunk (SIEM) · Thales/Vormetric (chiffrement)   |   Compliance Checklist Excel remplie : 14 exigences, statut, owner, échéance (annexe)</a:t>
            </a:r>
          </a:p>
        </p:txBody>
      </p:sp>
      <p:sp>
        <p:nvSpPr>
          <p:cNvPr id="25" name="TextBox 24"/>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26" name="TextBox 25"/>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Organisation &amp; rôles — Centre of Excellence</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Source : Data Governance Roles Template · la gouvernance définit et audite, l'engineering implémente</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0" y="13716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CEO</a:t>
            </a:r>
          </a:p>
        </p:txBody>
      </p:sp>
      <p:sp>
        <p:nvSpPr>
          <p:cNvPr id="8" name="Rounded Rectangle 7"/>
          <p:cNvSpPr/>
          <p:nvPr/>
        </p:nvSpPr>
        <p:spPr>
          <a:xfrm>
            <a:off x="640080" y="22860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CDO</a:t>
            </a:r>
          </a:p>
          <a:p>
            <a:pPr algn="ctr"/>
            <a:r>
              <a:rPr sz="850">
                <a:solidFill>
                  <a:srgbClr val="B3B3B3"/>
                </a:solidFill>
              </a:rPr>
              <a:t>stratégie data · pilote le CoE</a:t>
            </a:r>
          </a:p>
        </p:txBody>
      </p:sp>
      <p:sp>
        <p:nvSpPr>
          <p:cNvPr id="9" name="Rounded Rectangle 8"/>
          <p:cNvSpPr/>
          <p:nvPr/>
        </p:nvSpPr>
        <p:spPr>
          <a:xfrm>
            <a:off x="3703320" y="22860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DPO</a:t>
            </a:r>
          </a:p>
          <a:p>
            <a:pPr algn="ctr"/>
            <a:r>
              <a:rPr sz="850">
                <a:solidFill>
                  <a:srgbClr val="B3B3B3"/>
                </a:solidFill>
              </a:rPr>
              <a:t>indépendant · conformité</a:t>
            </a:r>
          </a:p>
        </p:txBody>
      </p:sp>
      <p:sp>
        <p:nvSpPr>
          <p:cNvPr id="10" name="Rounded Rectangle 9"/>
          <p:cNvSpPr/>
          <p:nvPr/>
        </p:nvSpPr>
        <p:spPr>
          <a:xfrm>
            <a:off x="6492240" y="22860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CTO</a:t>
            </a:r>
          </a:p>
          <a:p>
            <a:pPr algn="ctr"/>
            <a:r>
              <a:rPr sz="850">
                <a:solidFill>
                  <a:srgbClr val="B3B3B3"/>
                </a:solidFill>
              </a:rPr>
              <a:t>technologie</a:t>
            </a:r>
          </a:p>
        </p:txBody>
      </p:sp>
      <p:sp>
        <p:nvSpPr>
          <p:cNvPr id="11" name="Rounded Rectangle 10"/>
          <p:cNvSpPr/>
          <p:nvPr/>
        </p:nvSpPr>
        <p:spPr>
          <a:xfrm>
            <a:off x="9281160" y="22860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Legal</a:t>
            </a:r>
          </a:p>
          <a:p>
            <a:pPr algn="ctr"/>
            <a:r>
              <a:rPr sz="850">
                <a:solidFill>
                  <a:srgbClr val="B3B3B3"/>
                </a:solidFill>
              </a:rPr>
              <a:t>validation juridique</a:t>
            </a:r>
          </a:p>
        </p:txBody>
      </p:sp>
      <p:cxnSp>
        <p:nvCxnSpPr>
          <p:cNvPr id="12" name="Connector 11"/>
          <p:cNvCxnSpPr/>
          <p:nvPr/>
        </p:nvCxnSpPr>
        <p:spPr>
          <a:xfrm>
            <a:off x="6080760" y="1938528"/>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91639" y="2112264"/>
            <a:ext cx="8641081" cy="0"/>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691639"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754879"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32720" y="2112264"/>
            <a:ext cx="0" cy="173736"/>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40080" y="3200400"/>
            <a:ext cx="2103120" cy="566928"/>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Data Governance CoE</a:t>
            </a:r>
          </a:p>
          <a:p>
            <a:pPr algn="ctr"/>
            <a:r>
              <a:rPr sz="850">
                <a:solidFill>
                  <a:srgbClr val="B3B3B3"/>
                </a:solidFill>
              </a:rPr>
              <a:t>4-6 pers. · standards, catalogue, formation, audit</a:t>
            </a:r>
          </a:p>
        </p:txBody>
      </p:sp>
      <p:sp>
        <p:nvSpPr>
          <p:cNvPr id="19" name="Rounded Rectangle 18"/>
          <p:cNvSpPr/>
          <p:nvPr/>
        </p:nvSpPr>
        <p:spPr>
          <a:xfrm>
            <a:off x="3703320" y="32004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Privacy Team</a:t>
            </a:r>
          </a:p>
          <a:p>
            <a:pPr algn="ctr"/>
            <a:r>
              <a:rPr sz="850">
                <a:solidFill>
                  <a:srgbClr val="B3B3B3"/>
                </a:solidFill>
              </a:rPr>
              <a:t>2 analystes · droits des personnes</a:t>
            </a:r>
          </a:p>
        </p:txBody>
      </p:sp>
      <p:sp>
        <p:nvSpPr>
          <p:cNvPr id="20" name="Rounded Rectangle 19"/>
          <p:cNvSpPr/>
          <p:nvPr/>
        </p:nvSpPr>
        <p:spPr>
          <a:xfrm>
            <a:off x="6492240" y="3200400"/>
            <a:ext cx="2103120" cy="566928"/>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Head of Engineering</a:t>
            </a:r>
          </a:p>
          <a:p>
            <a:pPr algn="ctr"/>
            <a:r>
              <a:rPr sz="850">
                <a:solidFill>
                  <a:srgbClr val="B3B3B3"/>
                </a:solidFill>
              </a:rPr>
              <a:t>implémente les contrôles</a:t>
            </a:r>
          </a:p>
        </p:txBody>
      </p:sp>
      <p:cxnSp>
        <p:nvCxnSpPr>
          <p:cNvPr id="21" name="Connector 20"/>
          <p:cNvCxnSpPr/>
          <p:nvPr/>
        </p:nvCxnSpPr>
        <p:spPr>
          <a:xfrm>
            <a:off x="1691639" y="2852928"/>
            <a:ext cx="0" cy="34747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54879" y="2852928"/>
            <a:ext cx="0" cy="34747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43800" y="2852928"/>
            <a:ext cx="0" cy="34747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691639" y="3767328"/>
            <a:ext cx="0" cy="182880"/>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179576" y="3950208"/>
            <a:ext cx="4681728" cy="0"/>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79576"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User</a:t>
            </a:r>
          </a:p>
          <a:p>
            <a:pPr algn="ctr"/>
            <a:r>
              <a:rPr sz="750">
                <a:solidFill>
                  <a:srgbClr val="B3B3B3"/>
                </a:solidFill>
              </a:rPr>
              <a:t>relais BU</a:t>
            </a:r>
          </a:p>
        </p:txBody>
      </p:sp>
      <p:cxnSp>
        <p:nvCxnSpPr>
          <p:cNvPr id="28" name="Connector 27"/>
          <p:cNvCxnSpPr/>
          <p:nvPr/>
        </p:nvCxnSpPr>
        <p:spPr>
          <a:xfrm>
            <a:off x="2350008"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810512"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Content</a:t>
            </a:r>
          </a:p>
          <a:p>
            <a:pPr algn="ctr"/>
            <a:r>
              <a:rPr sz="750">
                <a:solidFill>
                  <a:srgbClr val="B3B3B3"/>
                </a:solidFill>
              </a:rPr>
              <a:t>relais BU</a:t>
            </a:r>
          </a:p>
        </p:txBody>
      </p:sp>
      <p:cxnSp>
        <p:nvCxnSpPr>
          <p:cNvPr id="30" name="Connector 29"/>
          <p:cNvCxnSpPr/>
          <p:nvPr/>
        </p:nvCxnSpPr>
        <p:spPr>
          <a:xfrm>
            <a:off x="3520439"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980944"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Payments</a:t>
            </a:r>
          </a:p>
          <a:p>
            <a:pPr algn="ctr"/>
            <a:r>
              <a:rPr sz="750">
                <a:solidFill>
                  <a:srgbClr val="B3B3B3"/>
                </a:solidFill>
              </a:rPr>
              <a:t>relais BU</a:t>
            </a:r>
          </a:p>
        </p:txBody>
      </p:sp>
      <p:cxnSp>
        <p:nvCxnSpPr>
          <p:cNvPr id="32" name="Connector 31"/>
          <p:cNvCxnSpPr/>
          <p:nvPr/>
        </p:nvCxnSpPr>
        <p:spPr>
          <a:xfrm>
            <a:off x="4690872"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151376"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Ads</a:t>
            </a:r>
          </a:p>
          <a:p>
            <a:pPr algn="ctr"/>
            <a:r>
              <a:rPr sz="750">
                <a:solidFill>
                  <a:srgbClr val="B3B3B3"/>
                </a:solidFill>
              </a:rPr>
              <a:t>relais BU</a:t>
            </a:r>
          </a:p>
        </p:txBody>
      </p:sp>
      <p:cxnSp>
        <p:nvCxnSpPr>
          <p:cNvPr id="34" name="Connector 33"/>
          <p:cNvCxnSpPr/>
          <p:nvPr/>
        </p:nvCxnSpPr>
        <p:spPr>
          <a:xfrm>
            <a:off x="5861304" y="3950208"/>
            <a:ext cx="0" cy="21031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321808" y="4160520"/>
            <a:ext cx="1078992" cy="548640"/>
          </a:xfrm>
          <a:prstGeom prst="roundRect">
            <a:avLst>
              <a:gd name="adj" fmla="val 12000"/>
            </a:avLst>
          </a:prstGeom>
          <a:solidFill>
            <a:srgbClr val="1E1E1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1">
                <a:solidFill>
                  <a:srgbClr val="FFFFFF"/>
                </a:solidFill>
              </a:rPr>
              <a:t>Steward Marketing</a:t>
            </a:r>
          </a:p>
          <a:p>
            <a:pPr algn="ctr"/>
            <a:r>
              <a:rPr sz="750">
                <a:solidFill>
                  <a:srgbClr val="B3B3B3"/>
                </a:solidFill>
              </a:rPr>
              <a:t>relais BU</a:t>
            </a:r>
          </a:p>
        </p:txBody>
      </p:sp>
      <p:sp>
        <p:nvSpPr>
          <p:cNvPr id="36" name="Rounded Rectangle 35"/>
          <p:cNvSpPr/>
          <p:nvPr/>
        </p:nvSpPr>
        <p:spPr>
          <a:xfrm>
            <a:off x="6492240" y="4160520"/>
            <a:ext cx="2103120" cy="548640"/>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Data Engineers</a:t>
            </a:r>
          </a:p>
          <a:p>
            <a:pPr algn="ctr"/>
            <a:r>
              <a:rPr sz="850">
                <a:solidFill>
                  <a:srgbClr val="B3B3B3"/>
                </a:solidFill>
              </a:rPr>
              <a:t>pipelines, chiffrement, effacement</a:t>
            </a:r>
          </a:p>
        </p:txBody>
      </p:sp>
      <p:cxnSp>
        <p:nvCxnSpPr>
          <p:cNvPr id="37" name="Connector 36"/>
          <p:cNvCxnSpPr/>
          <p:nvPr/>
        </p:nvCxnSpPr>
        <p:spPr>
          <a:xfrm>
            <a:off x="7543800" y="3767328"/>
            <a:ext cx="0" cy="393192"/>
          </a:xfrm>
          <a:prstGeom prst="line">
            <a:avLst/>
          </a:prstGeom>
          <a:ln w="15875">
            <a:solidFill>
              <a:srgbClr val="B3B3B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400800" y="4434840"/>
            <a:ext cx="91440" cy="0"/>
          </a:xfrm>
          <a:prstGeom prst="line">
            <a:avLst/>
          </a:prstGeom>
          <a:ln w="15875">
            <a:solidFill>
              <a:srgbClr val="1DB954"/>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281160" y="3200400"/>
            <a:ext cx="2103120" cy="960120"/>
          </a:xfrm>
          <a:prstGeom prst="roundRect">
            <a:avLst>
              <a:gd name="adj" fmla="val 12000"/>
            </a:avLst>
          </a:prstGeom>
          <a:solidFill>
            <a:srgbClr val="1E1E1E"/>
          </a:solidFill>
          <a:ln w="12700">
            <a:solidFill>
              <a:srgbClr val="B3B3B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Parties prenantes</a:t>
            </a:r>
          </a:p>
          <a:p>
            <a:pPr algn="ctr"/>
            <a:r>
              <a:rPr sz="800">
                <a:solidFill>
                  <a:srgbClr val="B3B3B3"/>
                </a:solidFill>
              </a:rPr>
              <a:t>Marketing Director · Product Managers · Department Heads · privacy by design</a:t>
            </a:r>
          </a:p>
        </p:txBody>
      </p:sp>
      <p:sp>
        <p:nvSpPr>
          <p:cNvPr id="40" name="Rounded Rectangle 39"/>
          <p:cNvSpPr/>
          <p:nvPr/>
        </p:nvSpPr>
        <p:spPr>
          <a:xfrm>
            <a:off x="640080" y="5166360"/>
            <a:ext cx="10881360" cy="530352"/>
          </a:xfrm>
          <a:prstGeom prst="roundRect">
            <a:avLst>
              <a:gd name="adj" fmla="val 12000"/>
            </a:avLst>
          </a:prstGeom>
          <a:solidFill>
            <a:srgbClr val="0A522E"/>
          </a:solidFill>
          <a:ln w="12700">
            <a:solidFill>
              <a:srgbClr val="1DB954"/>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100" b="1">
                <a:solidFill>
                  <a:srgbClr val="FFFFFF"/>
                </a:solidFill>
              </a:rPr>
              <a:t>Data Governance Committee — mensuel, présidé par le CDO</a:t>
            </a:r>
          </a:p>
          <a:p>
            <a:pPr algn="ctr"/>
            <a:r>
              <a:rPr sz="900">
                <a:solidFill>
                  <a:srgbClr val="B3B3B3"/>
                </a:solidFill>
              </a:rPr>
              <a:t>CDO · DPO · Head of Engineering · Marketing Director · Legal · 5 Data Stewards · représentant Product — approuve, arbitre, suit les KPIs, Go/No-Go</a:t>
            </a:r>
          </a:p>
        </p:txBody>
      </p:sp>
      <p:sp>
        <p:nvSpPr>
          <p:cNvPr id="41" name="TextBox 40"/>
          <p:cNvSpPr txBox="1"/>
          <p:nvPr/>
        </p:nvSpPr>
        <p:spPr>
          <a:xfrm>
            <a:off x="640080" y="5769864"/>
            <a:ext cx="2743200" cy="274320"/>
          </a:xfrm>
          <a:prstGeom prst="rect">
            <a:avLst/>
          </a:prstGeom>
          <a:noFill/>
        </p:spPr>
        <p:txBody>
          <a:bodyPr wrap="square" anchor="t" lIns="45720" rIns="45720" tIns="27432" bIns="27432">
            <a:spAutoFit/>
          </a:bodyPr>
          <a:lstStyle/>
          <a:p>
            <a:pPr algn="l"/>
            <a:r>
              <a:rPr sz="900" b="0" i="0">
                <a:solidFill>
                  <a:srgbClr val="1DB954"/>
                </a:solidFill>
              </a:rPr>
              <a:t>Gouvernance (définit, audite)</a:t>
            </a:r>
          </a:p>
        </p:txBody>
      </p:sp>
      <p:sp>
        <p:nvSpPr>
          <p:cNvPr id="42" name="TextBox 41"/>
          <p:cNvSpPr txBox="1"/>
          <p:nvPr/>
        </p:nvSpPr>
        <p:spPr>
          <a:xfrm>
            <a:off x="3383280" y="5769864"/>
            <a:ext cx="4572000" cy="274320"/>
          </a:xfrm>
          <a:prstGeom prst="rect">
            <a:avLst/>
          </a:prstGeom>
          <a:noFill/>
        </p:spPr>
        <p:txBody>
          <a:bodyPr wrap="square" anchor="t" lIns="45720" rIns="45720" tIns="27432" bIns="27432">
            <a:spAutoFit/>
          </a:bodyPr>
          <a:lstStyle/>
          <a:p>
            <a:pPr algn="l"/>
            <a:r>
              <a:rPr sz="900" b="0" i="0">
                <a:solidFill>
                  <a:srgbClr val="B3B3B3"/>
                </a:solidFill>
              </a:rPr>
              <a:t>Data management (implémente) — ligne CTO, séparée</a:t>
            </a:r>
          </a:p>
        </p:txBody>
      </p:sp>
      <p:sp>
        <p:nvSpPr>
          <p:cNvPr id="43" name="TextBox 42"/>
          <p:cNvSpPr txBox="1"/>
          <p:nvPr/>
        </p:nvSpPr>
        <p:spPr>
          <a:xfrm>
            <a:off x="8138160" y="5769864"/>
            <a:ext cx="3657600" cy="274320"/>
          </a:xfrm>
          <a:prstGeom prst="rect">
            <a:avLst/>
          </a:prstGeom>
          <a:noFill/>
        </p:spPr>
        <p:txBody>
          <a:bodyPr wrap="square" anchor="t" lIns="45720" rIns="45720" tIns="27432" bIns="27432">
            <a:spAutoFit/>
          </a:bodyPr>
          <a:lstStyle/>
          <a:p>
            <a:pPr algn="l"/>
            <a:r>
              <a:rPr sz="900" b="0" i="0">
                <a:solidFill>
                  <a:srgbClr val="1DB954"/>
                </a:solidFill>
              </a:rPr>
              <a:t>- - -  collaboration formalisée par le RACI</a:t>
            </a:r>
          </a:p>
        </p:txBody>
      </p:sp>
      <p:sp>
        <p:nvSpPr>
          <p:cNvPr id="44" name="TextBox 43"/>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45" name="TextBox 44"/>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Plan d'implémentation</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4 phases · 18 mois · pilote en 4 mois — calendrier aligné sur l'Executive Q&amp;A Guide</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11430000" cy="329184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antt-plan-dark.png"/>
          <p:cNvPicPr>
            <a:picLocks noChangeAspect="1"/>
          </p:cNvPicPr>
          <p:nvPr/>
        </p:nvPicPr>
        <p:blipFill>
          <a:blip r:embed="rId2"/>
          <a:stretch>
            <a:fillRect/>
          </a:stretch>
        </p:blipFill>
        <p:spPr>
          <a:xfrm>
            <a:off x="1337124" y="1417320"/>
            <a:ext cx="9514703" cy="3200400"/>
          </a:xfrm>
          <a:prstGeom prst="rect">
            <a:avLst/>
          </a:prstGeom>
        </p:spPr>
      </p:pic>
      <p:sp>
        <p:nvSpPr>
          <p:cNvPr id="9" name="Rectangle 8"/>
          <p:cNvSpPr/>
          <p:nvPr/>
        </p:nvSpPr>
        <p:spPr>
          <a:xfrm>
            <a:off x="365760" y="4846320"/>
            <a:ext cx="1572768"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4846320"/>
            <a:ext cx="1572768"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4956048"/>
            <a:ext cx="1389888" cy="411480"/>
          </a:xfrm>
          <a:prstGeom prst="rect">
            <a:avLst/>
          </a:prstGeom>
          <a:noFill/>
        </p:spPr>
        <p:txBody>
          <a:bodyPr wrap="square" anchor="t" lIns="45720" rIns="45720" tIns="27432" bIns="27432">
            <a:spAutoFit/>
          </a:bodyPr>
          <a:lstStyle/>
          <a:p>
            <a:pPr algn="l"/>
            <a:r>
              <a:rPr sz="1100" b="1" i="0">
                <a:solidFill>
                  <a:srgbClr val="1DB954"/>
                </a:solidFill>
              </a:rPr>
              <a:t>Catalogue</a:t>
            </a:r>
          </a:p>
        </p:txBody>
      </p:sp>
      <p:sp>
        <p:nvSpPr>
          <p:cNvPr id="12" name="TextBox 11"/>
          <p:cNvSpPr txBox="1"/>
          <p:nvPr/>
        </p:nvSpPr>
        <p:spPr>
          <a:xfrm>
            <a:off x="438912" y="5285232"/>
            <a:ext cx="1463040" cy="640080"/>
          </a:xfrm>
          <a:prstGeom prst="rect">
            <a:avLst/>
          </a:prstGeom>
          <a:noFill/>
        </p:spPr>
        <p:txBody>
          <a:bodyPr wrap="square" anchor="t" lIns="45720" rIns="45720" tIns="27432" bIns="27432">
            <a:spAutoFit/>
          </a:bodyPr>
          <a:lstStyle/>
          <a:p>
            <a:pPr algn="l"/>
            <a:r>
              <a:rPr sz="1050" b="0" i="0">
                <a:solidFill>
                  <a:srgbClr val="B3B3B3"/>
                </a:solidFill>
              </a:rPr>
              <a:t>Collibra ou extension de Lexikon</a:t>
            </a:r>
          </a:p>
        </p:txBody>
      </p:sp>
      <p:sp>
        <p:nvSpPr>
          <p:cNvPr id="13" name="Rectangle 12"/>
          <p:cNvSpPr/>
          <p:nvPr/>
        </p:nvSpPr>
        <p:spPr>
          <a:xfrm>
            <a:off x="2002536" y="4846320"/>
            <a:ext cx="1572768"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02536" y="4846320"/>
            <a:ext cx="1572768"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93976" y="4956048"/>
            <a:ext cx="1389888" cy="411480"/>
          </a:xfrm>
          <a:prstGeom prst="rect">
            <a:avLst/>
          </a:prstGeom>
          <a:noFill/>
        </p:spPr>
        <p:txBody>
          <a:bodyPr wrap="square" anchor="t" lIns="45720" rIns="45720" tIns="27432" bIns="27432">
            <a:spAutoFit/>
          </a:bodyPr>
          <a:lstStyle/>
          <a:p>
            <a:pPr algn="l"/>
            <a:r>
              <a:rPr sz="1100" b="1" i="0">
                <a:solidFill>
                  <a:srgbClr val="1DB954"/>
                </a:solidFill>
              </a:rPr>
              <a:t>Qualité</a:t>
            </a:r>
          </a:p>
        </p:txBody>
      </p:sp>
      <p:sp>
        <p:nvSpPr>
          <p:cNvPr id="16" name="TextBox 15"/>
          <p:cNvSpPr txBox="1"/>
          <p:nvPr/>
        </p:nvSpPr>
        <p:spPr>
          <a:xfrm>
            <a:off x="2075688" y="5285232"/>
            <a:ext cx="1463040" cy="640080"/>
          </a:xfrm>
          <a:prstGeom prst="rect">
            <a:avLst/>
          </a:prstGeom>
          <a:noFill/>
        </p:spPr>
        <p:txBody>
          <a:bodyPr wrap="square" anchor="t" lIns="45720" rIns="45720" tIns="27432" bIns="27432">
            <a:spAutoFit/>
          </a:bodyPr>
          <a:lstStyle/>
          <a:p>
            <a:pPr algn="l"/>
            <a:r>
              <a:rPr sz="1050" b="0" i="0">
                <a:solidFill>
                  <a:srgbClr val="B3B3B3"/>
                </a:solidFill>
              </a:rPr>
              <a:t>Great Expectations</a:t>
            </a:r>
          </a:p>
        </p:txBody>
      </p:sp>
      <p:sp>
        <p:nvSpPr>
          <p:cNvPr id="17" name="Rectangle 16"/>
          <p:cNvSpPr/>
          <p:nvPr/>
        </p:nvSpPr>
        <p:spPr>
          <a:xfrm>
            <a:off x="3639312" y="4846320"/>
            <a:ext cx="1572768"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39312" y="4846320"/>
            <a:ext cx="1572768"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30752" y="4956048"/>
            <a:ext cx="1389888" cy="411480"/>
          </a:xfrm>
          <a:prstGeom prst="rect">
            <a:avLst/>
          </a:prstGeom>
          <a:noFill/>
        </p:spPr>
        <p:txBody>
          <a:bodyPr wrap="square" anchor="t" lIns="45720" rIns="45720" tIns="27432" bIns="27432">
            <a:spAutoFit/>
          </a:bodyPr>
          <a:lstStyle/>
          <a:p>
            <a:pPr algn="l"/>
            <a:r>
              <a:rPr sz="1100" b="1" i="0">
                <a:solidFill>
                  <a:srgbClr val="1DB954"/>
                </a:solidFill>
              </a:rPr>
              <a:t>Conformité</a:t>
            </a:r>
          </a:p>
        </p:txBody>
      </p:sp>
      <p:sp>
        <p:nvSpPr>
          <p:cNvPr id="20" name="TextBox 19"/>
          <p:cNvSpPr txBox="1"/>
          <p:nvPr/>
        </p:nvSpPr>
        <p:spPr>
          <a:xfrm>
            <a:off x="3712463" y="5285232"/>
            <a:ext cx="1463040" cy="640080"/>
          </a:xfrm>
          <a:prstGeom prst="rect">
            <a:avLst/>
          </a:prstGeom>
          <a:noFill/>
        </p:spPr>
        <p:txBody>
          <a:bodyPr wrap="square" anchor="t" lIns="45720" rIns="45720" tIns="27432" bIns="27432">
            <a:spAutoFit/>
          </a:bodyPr>
          <a:lstStyle/>
          <a:p>
            <a:pPr algn="l"/>
            <a:r>
              <a:rPr sz="1050" b="0" i="0">
                <a:solidFill>
                  <a:srgbClr val="B3B3B3"/>
                </a:solidFill>
              </a:rPr>
              <a:t>OneTrust</a:t>
            </a:r>
          </a:p>
        </p:txBody>
      </p:sp>
      <p:sp>
        <p:nvSpPr>
          <p:cNvPr id="21" name="Rectangle 20"/>
          <p:cNvSpPr/>
          <p:nvPr/>
        </p:nvSpPr>
        <p:spPr>
          <a:xfrm>
            <a:off x="5276088" y="4846320"/>
            <a:ext cx="1572768"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76088" y="4846320"/>
            <a:ext cx="1572768"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67528" y="4956048"/>
            <a:ext cx="1389888" cy="411480"/>
          </a:xfrm>
          <a:prstGeom prst="rect">
            <a:avLst/>
          </a:prstGeom>
          <a:noFill/>
        </p:spPr>
        <p:txBody>
          <a:bodyPr wrap="square" anchor="t" lIns="45720" rIns="45720" tIns="27432" bIns="27432">
            <a:spAutoFit/>
          </a:bodyPr>
          <a:lstStyle/>
          <a:p>
            <a:pPr algn="l"/>
            <a:r>
              <a:rPr sz="1100" b="1" i="0">
                <a:solidFill>
                  <a:srgbClr val="1DB954"/>
                </a:solidFill>
              </a:rPr>
              <a:t>SIEM</a:t>
            </a:r>
          </a:p>
        </p:txBody>
      </p:sp>
      <p:sp>
        <p:nvSpPr>
          <p:cNvPr id="24" name="TextBox 23"/>
          <p:cNvSpPr txBox="1"/>
          <p:nvPr/>
        </p:nvSpPr>
        <p:spPr>
          <a:xfrm>
            <a:off x="5349240" y="5285232"/>
            <a:ext cx="1463040" cy="640080"/>
          </a:xfrm>
          <a:prstGeom prst="rect">
            <a:avLst/>
          </a:prstGeom>
          <a:noFill/>
        </p:spPr>
        <p:txBody>
          <a:bodyPr wrap="square" anchor="t" lIns="45720" rIns="45720" tIns="27432" bIns="27432">
            <a:spAutoFit/>
          </a:bodyPr>
          <a:lstStyle/>
          <a:p>
            <a:pPr algn="l"/>
            <a:r>
              <a:rPr sz="1050" b="0" i="0">
                <a:solidFill>
                  <a:srgbClr val="B3B3B3"/>
                </a:solidFill>
              </a:rPr>
              <a:t>Splunk</a:t>
            </a:r>
          </a:p>
        </p:txBody>
      </p:sp>
      <p:sp>
        <p:nvSpPr>
          <p:cNvPr id="25" name="Rectangle 24"/>
          <p:cNvSpPr/>
          <p:nvPr/>
        </p:nvSpPr>
        <p:spPr>
          <a:xfrm>
            <a:off x="6912864" y="4846320"/>
            <a:ext cx="1572768"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12864" y="4846320"/>
            <a:ext cx="1572768"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04304" y="4956048"/>
            <a:ext cx="1389888" cy="411480"/>
          </a:xfrm>
          <a:prstGeom prst="rect">
            <a:avLst/>
          </a:prstGeom>
          <a:noFill/>
        </p:spPr>
        <p:txBody>
          <a:bodyPr wrap="square" anchor="t" lIns="45720" rIns="45720" tIns="27432" bIns="27432">
            <a:spAutoFit/>
          </a:bodyPr>
          <a:lstStyle/>
          <a:p>
            <a:pPr algn="l"/>
            <a:r>
              <a:rPr sz="1100" b="1" i="0">
                <a:solidFill>
                  <a:srgbClr val="1DB954"/>
                </a:solidFill>
              </a:rPr>
              <a:t>Chiffrement</a:t>
            </a:r>
          </a:p>
        </p:txBody>
      </p:sp>
      <p:sp>
        <p:nvSpPr>
          <p:cNvPr id="28" name="TextBox 27"/>
          <p:cNvSpPr txBox="1"/>
          <p:nvPr/>
        </p:nvSpPr>
        <p:spPr>
          <a:xfrm>
            <a:off x="6986016" y="5285232"/>
            <a:ext cx="1463040" cy="640080"/>
          </a:xfrm>
          <a:prstGeom prst="rect">
            <a:avLst/>
          </a:prstGeom>
          <a:noFill/>
        </p:spPr>
        <p:txBody>
          <a:bodyPr wrap="square" anchor="t" lIns="45720" rIns="45720" tIns="27432" bIns="27432">
            <a:spAutoFit/>
          </a:bodyPr>
          <a:lstStyle/>
          <a:p>
            <a:pPr algn="l"/>
            <a:r>
              <a:rPr sz="1050" b="0" i="0">
                <a:solidFill>
                  <a:srgbClr val="B3B3B3"/>
                </a:solidFill>
              </a:rPr>
              <a:t>Thales / Vormetric</a:t>
            </a:r>
          </a:p>
        </p:txBody>
      </p:sp>
      <p:sp>
        <p:nvSpPr>
          <p:cNvPr id="29" name="Rectangle 28"/>
          <p:cNvSpPr/>
          <p:nvPr/>
        </p:nvSpPr>
        <p:spPr>
          <a:xfrm>
            <a:off x="8549640" y="4846320"/>
            <a:ext cx="1572768"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549640" y="4846320"/>
            <a:ext cx="1572768"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41080" y="4956048"/>
            <a:ext cx="1389888" cy="411480"/>
          </a:xfrm>
          <a:prstGeom prst="rect">
            <a:avLst/>
          </a:prstGeom>
          <a:noFill/>
        </p:spPr>
        <p:txBody>
          <a:bodyPr wrap="square" anchor="t" lIns="45720" rIns="45720" tIns="27432" bIns="27432">
            <a:spAutoFit/>
          </a:bodyPr>
          <a:lstStyle/>
          <a:p>
            <a:pPr algn="l"/>
            <a:r>
              <a:rPr sz="1100" b="1" i="0">
                <a:solidFill>
                  <a:srgbClr val="1DB954"/>
                </a:solidFill>
              </a:rPr>
              <a:t>Lineage</a:t>
            </a:r>
          </a:p>
        </p:txBody>
      </p:sp>
      <p:sp>
        <p:nvSpPr>
          <p:cNvPr id="32" name="TextBox 31"/>
          <p:cNvSpPr txBox="1"/>
          <p:nvPr/>
        </p:nvSpPr>
        <p:spPr>
          <a:xfrm>
            <a:off x="8622792" y="5285232"/>
            <a:ext cx="1463040" cy="640080"/>
          </a:xfrm>
          <a:prstGeom prst="rect">
            <a:avLst/>
          </a:prstGeom>
          <a:noFill/>
        </p:spPr>
        <p:txBody>
          <a:bodyPr wrap="square" anchor="t" lIns="45720" rIns="45720" tIns="27432" bIns="27432">
            <a:spAutoFit/>
          </a:bodyPr>
          <a:lstStyle/>
          <a:p>
            <a:pPr algn="l"/>
            <a:r>
              <a:rPr sz="1050" b="0" i="0">
                <a:solidFill>
                  <a:srgbClr val="B3B3B3"/>
                </a:solidFill>
              </a:rPr>
              <a:t>OpenLineage</a:t>
            </a:r>
          </a:p>
        </p:txBody>
      </p:sp>
      <p:sp>
        <p:nvSpPr>
          <p:cNvPr id="33" name="Rectangle 32"/>
          <p:cNvSpPr/>
          <p:nvPr/>
        </p:nvSpPr>
        <p:spPr>
          <a:xfrm>
            <a:off x="10186416" y="4846320"/>
            <a:ext cx="1572768"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186416" y="4846320"/>
            <a:ext cx="1572768"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77856" y="4956048"/>
            <a:ext cx="1389888" cy="411480"/>
          </a:xfrm>
          <a:prstGeom prst="rect">
            <a:avLst/>
          </a:prstGeom>
          <a:noFill/>
        </p:spPr>
        <p:txBody>
          <a:bodyPr wrap="square" anchor="t" lIns="45720" rIns="45720" tIns="27432" bIns="27432">
            <a:spAutoFit/>
          </a:bodyPr>
          <a:lstStyle/>
          <a:p>
            <a:pPr algn="l"/>
            <a:r>
              <a:rPr sz="1100" b="1" i="0">
                <a:solidFill>
                  <a:srgbClr val="1DB954"/>
                </a:solidFill>
              </a:rPr>
              <a:t>Observabilité</a:t>
            </a:r>
          </a:p>
        </p:txBody>
      </p:sp>
      <p:sp>
        <p:nvSpPr>
          <p:cNvPr id="36" name="TextBox 35"/>
          <p:cNvSpPr txBox="1"/>
          <p:nvPr/>
        </p:nvSpPr>
        <p:spPr>
          <a:xfrm>
            <a:off x="10259568" y="5285232"/>
            <a:ext cx="1463040" cy="640080"/>
          </a:xfrm>
          <a:prstGeom prst="rect">
            <a:avLst/>
          </a:prstGeom>
          <a:noFill/>
        </p:spPr>
        <p:txBody>
          <a:bodyPr wrap="square" anchor="t" lIns="45720" rIns="45720" tIns="27432" bIns="27432">
            <a:spAutoFit/>
          </a:bodyPr>
          <a:lstStyle/>
          <a:p>
            <a:pPr algn="l"/>
            <a:r>
              <a:rPr sz="1050" b="0" i="0">
                <a:solidFill>
                  <a:srgbClr val="B3B3B3"/>
                </a:solidFill>
              </a:rPr>
              <a:t>Monte Carlo (ph. 4)</a:t>
            </a:r>
          </a:p>
        </p:txBody>
      </p:sp>
      <p:sp>
        <p:nvSpPr>
          <p:cNvPr id="37" name="TextBox 36"/>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38" name="TextBox 37"/>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Pilote User Data — M3 à M6</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Source : Pilot Implementation Template · périmètre borné, baselines mesurées en semaine 1</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3931920" cy="4846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393192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3749039" cy="411480"/>
          </a:xfrm>
          <a:prstGeom prst="rect">
            <a:avLst/>
          </a:prstGeom>
          <a:noFill/>
        </p:spPr>
        <p:txBody>
          <a:bodyPr wrap="square" anchor="t" lIns="45720" rIns="45720" tIns="27432" bIns="27432">
            <a:spAutoFit/>
          </a:bodyPr>
          <a:lstStyle/>
          <a:p>
            <a:pPr algn="l"/>
            <a:r>
              <a:rPr sz="1400" b="1" i="0">
                <a:solidFill>
                  <a:srgbClr val="1DB954"/>
                </a:solidFill>
              </a:rPr>
              <a:t>Pourquoi User Data ?</a:t>
            </a:r>
          </a:p>
        </p:txBody>
      </p:sp>
      <p:sp>
        <p:nvSpPr>
          <p:cNvPr id="10" name="TextBox 9"/>
          <p:cNvSpPr txBox="1"/>
          <p:nvPr/>
        </p:nvSpPr>
        <p:spPr>
          <a:xfrm>
            <a:off x="457200" y="1920240"/>
            <a:ext cx="3749039" cy="4206240"/>
          </a:xfrm>
          <a:prstGeom prst="rect">
            <a:avLst/>
          </a:prstGeom>
          <a:noFill/>
        </p:spPr>
        <p:txBody>
          <a:bodyPr wrap="square" lIns="45720" rIns="45720">
            <a:spAutoFit/>
          </a:bodyPr>
          <a:lstStyle/>
          <a:p>
            <a:pPr>
              <a:spcBef>
                <a:spcPts val="800"/>
              </a:spcBef>
            </a:pPr>
            <a:r>
              <a:rPr sz="1150" b="0">
                <a:solidFill>
                  <a:srgbClr val="FFFFFF"/>
                </a:solidFill>
              </a:rPr>
              <a:t>•  Exposition GDPR maximale — juridiction qui a déjà sanctionné Spotify</a:t>
            </a:r>
          </a:p>
          <a:p>
            <a:pPr>
              <a:spcBef>
                <a:spcPts val="800"/>
              </a:spcBef>
            </a:pPr>
            <a:r>
              <a:rPr sz="1150" b="0">
                <a:solidFill>
                  <a:srgbClr val="FFFFFF"/>
                </a:solidFill>
              </a:rPr>
              <a:t>•  Données pouvant révéler des informations sensibles inférées</a:t>
            </a:r>
          </a:p>
          <a:p>
            <a:pPr>
              <a:spcBef>
                <a:spcPts val="800"/>
              </a:spcBef>
            </a:pPr>
            <a:r>
              <a:rPr sz="1150" b="0">
                <a:solidFill>
                  <a:srgbClr val="FFFFFF"/>
                </a:solidFill>
              </a:rPr>
              <a:t>•  Alimente Discover Weekly, Daily Mix et la rétention premium</a:t>
            </a:r>
          </a:p>
          <a:p>
            <a:pPr>
              <a:spcBef>
                <a:spcPts val="800"/>
              </a:spcBef>
            </a:pPr>
            <a:r>
              <a:rPr sz="1150" b="1">
                <a:solidFill>
                  <a:srgbClr val="FFFFFF"/>
                </a:solidFill>
              </a:rPr>
              <a:t>•  Périmètre : profils et historiques d'écoute des marchés UE d'abord, extension mondiale en phase 3</a:t>
            </a:r>
          </a:p>
          <a:p>
            <a:pPr>
              <a:spcBef>
                <a:spcPts val="800"/>
              </a:spcBef>
            </a:pPr>
            <a:r>
              <a:rPr sz="1150" b="0">
                <a:solidFill>
                  <a:srgbClr val="FFFFFF"/>
                </a:solidFill>
              </a:rPr>
              <a:t>•  Équipe : Lead CoE (PM), Steward User, DPO + Privacy Team, Data Engineers, VP Product</a:t>
            </a:r>
          </a:p>
          <a:p>
            <a:pPr>
              <a:spcBef>
                <a:spcPts val="800"/>
              </a:spcBef>
            </a:pPr>
            <a:r>
              <a:rPr sz="1150" b="0">
                <a:solidFill>
                  <a:srgbClr val="FFFFFF"/>
                </a:solidFill>
              </a:rPr>
              <a:t>•  Go/No-Go du Committee en M6</a:t>
            </a:r>
          </a:p>
        </p:txBody>
      </p:sp>
      <p:graphicFrame>
        <p:nvGraphicFramePr>
          <p:cNvPr id="11" name="Table 10"/>
          <p:cNvGraphicFramePr>
            <a:graphicFrameLocks noGrp="1"/>
          </p:cNvGraphicFramePr>
          <p:nvPr/>
        </p:nvGraphicFramePr>
        <p:xfrm>
          <a:off x="4480560" y="1417320"/>
          <a:ext cx="7315199" cy="3401568"/>
        </p:xfrm>
        <a:graphic>
          <a:graphicData uri="http://schemas.openxmlformats.org/drawingml/2006/table">
            <a:tbl>
              <a:tblPr firstRow="1" bandRow="1">
                <a:tableStyleId>{5C22544A-7EE6-4342-B048-85BDC9FD1C3A}</a:tableStyleId>
              </a:tblPr>
              <a:tblGrid>
                <a:gridCol w="2011680"/>
                <a:gridCol w="3749039"/>
                <a:gridCol w="1554480"/>
              </a:tblGrid>
              <a:tr h="566928">
                <a:tc>
                  <a:txBody>
                    <a:bodyPr wrap="square"/>
                    <a:lstStyle/>
                    <a:p>
                      <a:r>
                        <a:rPr sz="1100" b="1">
                          <a:solidFill>
                            <a:srgbClr val="FFFFFF"/>
                          </a:solidFill>
                        </a:rPr>
                        <a:t>KPI (Pilot Template)</a:t>
                      </a:r>
                    </a:p>
                  </a:txBody>
                  <a:tcPr marL="54864" marR="54864" marT="27432" marB="27432">
                    <a:solidFill>
                      <a:srgbClr val="0A522E"/>
                    </a:solidFill>
                  </a:tcPr>
                </a:tc>
                <a:tc>
                  <a:txBody>
                    <a:bodyPr wrap="square"/>
                    <a:lstStyle/>
                    <a:p>
                      <a:r>
                        <a:rPr sz="1100" b="1">
                          <a:solidFill>
                            <a:srgbClr val="FFFFFF"/>
                          </a:solidFill>
                        </a:rPr>
                        <a:t>Cible M6</a:t>
                      </a:r>
                    </a:p>
                  </a:txBody>
                  <a:tcPr marL="54864" marR="54864" marT="27432" marB="27432">
                    <a:solidFill>
                      <a:srgbClr val="0A522E"/>
                    </a:solidFill>
                  </a:tcPr>
                </a:tc>
                <a:tc>
                  <a:txBody>
                    <a:bodyPr wrap="square"/>
                    <a:lstStyle/>
                    <a:p>
                      <a:r>
                        <a:rPr sz="1100" b="1">
                          <a:solidFill>
                            <a:srgbClr val="FFFFFF"/>
                          </a:solidFill>
                        </a:rPr>
                        <a:t>Source</a:t>
                      </a:r>
                    </a:p>
                  </a:txBody>
                  <a:tcPr marL="54864" marR="54864" marT="27432" marB="27432">
                    <a:solidFill>
                      <a:srgbClr val="0A522E"/>
                    </a:solidFill>
                  </a:tcPr>
                </a:tc>
              </a:tr>
              <a:tr h="566928">
                <a:tc>
                  <a:txBody>
                    <a:bodyPr wrap="square"/>
                    <a:lstStyle/>
                    <a:p>
                      <a:r>
                        <a:rPr sz="1100" b="1">
                          <a:solidFill>
                            <a:srgbClr val="1DB954"/>
                          </a:solidFill>
                        </a:rPr>
                        <a:t>Data Quality Score</a:t>
                      </a:r>
                    </a:p>
                  </a:txBody>
                  <a:tcPr marL="54864" marR="54864" marT="27432" marB="27432">
                    <a:solidFill>
                      <a:srgbClr val="1E1E1E"/>
                    </a:solidFill>
                  </a:tcPr>
                </a:tc>
                <a:tc>
                  <a:txBody>
                    <a:bodyPr wrap="square"/>
                    <a:lstStyle/>
                    <a:p>
                      <a:r>
                        <a:rPr sz="1100" b="0">
                          <a:solidFill>
                            <a:srgbClr val="FFFFFF"/>
                          </a:solidFill>
                        </a:rPr>
                        <a:t>-10 % de données manquantes (complétude &gt; 98 %)</a:t>
                      </a:r>
                    </a:p>
                  </a:txBody>
                  <a:tcPr marL="54864" marR="54864" marT="27432" marB="27432">
                    <a:solidFill>
                      <a:srgbClr val="1E1E1E"/>
                    </a:solidFill>
                  </a:tcPr>
                </a:tc>
                <a:tc>
                  <a:txBody>
                    <a:bodyPr wrap="square"/>
                    <a:lstStyle/>
                    <a:p>
                      <a:r>
                        <a:rPr sz="1100" b="0">
                          <a:solidFill>
                            <a:srgbClr val="FFFFFF"/>
                          </a:solidFill>
                        </a:rPr>
                        <a:t>Great Expectations</a:t>
                      </a:r>
                    </a:p>
                  </a:txBody>
                  <a:tcPr marL="54864" marR="54864" marT="27432" marB="27432">
                    <a:solidFill>
                      <a:srgbClr val="1E1E1E"/>
                    </a:solidFill>
                  </a:tcPr>
                </a:tc>
              </a:tr>
              <a:tr h="566928">
                <a:tc>
                  <a:txBody>
                    <a:bodyPr wrap="square"/>
                    <a:lstStyle/>
                    <a:p>
                      <a:r>
                        <a:rPr sz="1100" b="1">
                          <a:solidFill>
                            <a:srgbClr val="1DB954"/>
                          </a:solidFill>
                        </a:rPr>
                        <a:t>Compliance Score</a:t>
                      </a:r>
                    </a:p>
                  </a:txBody>
                  <a:tcPr marL="54864" marR="54864" marT="27432" marB="27432">
                    <a:solidFill>
                      <a:srgbClr val="2A2A2A"/>
                    </a:solidFill>
                  </a:tcPr>
                </a:tc>
                <a:tc>
                  <a:txBody>
                    <a:bodyPr wrap="square"/>
                    <a:lstStyle/>
                    <a:p>
                      <a:r>
                        <a:rPr sz="1100" b="0">
                          <a:solidFill>
                            <a:srgbClr val="FFFFFF"/>
                          </a:solidFill>
                        </a:rPr>
                        <a:t>100 % des traitements avec base légale et consentement valide</a:t>
                      </a:r>
                    </a:p>
                  </a:txBody>
                  <a:tcPr marL="54864" marR="54864" marT="27432" marB="27432">
                    <a:solidFill>
                      <a:srgbClr val="2A2A2A"/>
                    </a:solidFill>
                  </a:tcPr>
                </a:tc>
                <a:tc>
                  <a:txBody>
                    <a:bodyPr wrap="square"/>
                    <a:lstStyle/>
                    <a:p>
                      <a:r>
                        <a:rPr sz="1100" b="0">
                          <a:solidFill>
                            <a:srgbClr val="FFFFFF"/>
                          </a:solidFill>
                        </a:rPr>
                        <a:t>OneTrust</a:t>
                      </a:r>
                    </a:p>
                  </a:txBody>
                  <a:tcPr marL="54864" marR="54864" marT="27432" marB="27432">
                    <a:solidFill>
                      <a:srgbClr val="2A2A2A"/>
                    </a:solidFill>
                  </a:tcPr>
                </a:tc>
              </a:tr>
              <a:tr h="566928">
                <a:tc>
                  <a:txBody>
                    <a:bodyPr wrap="square"/>
                    <a:lstStyle/>
                    <a:p>
                      <a:r>
                        <a:rPr sz="1100" b="1">
                          <a:solidFill>
                            <a:srgbClr val="1DB954"/>
                          </a:solidFill>
                        </a:rPr>
                        <a:t>Data Access Speed</a:t>
                      </a:r>
                    </a:p>
                  </a:txBody>
                  <a:tcPr marL="54864" marR="54864" marT="27432" marB="27432">
                    <a:solidFill>
                      <a:srgbClr val="1E1E1E"/>
                    </a:solidFill>
                  </a:tcPr>
                </a:tc>
                <a:tc>
                  <a:txBody>
                    <a:bodyPr wrap="square"/>
                    <a:lstStyle/>
                    <a:p>
                      <a:r>
                        <a:rPr sz="1100" b="0">
                          <a:solidFill>
                            <a:srgbClr val="FFFFFF"/>
                          </a:solidFill>
                        </a:rPr>
                        <a:t>-20 % de délai d'accès aux données</a:t>
                      </a:r>
                    </a:p>
                  </a:txBody>
                  <a:tcPr marL="54864" marR="54864" marT="27432" marB="27432">
                    <a:solidFill>
                      <a:srgbClr val="1E1E1E"/>
                    </a:solidFill>
                  </a:tcPr>
                </a:tc>
                <a:tc>
                  <a:txBody>
                    <a:bodyPr wrap="square"/>
                    <a:lstStyle/>
                    <a:p>
                      <a:r>
                        <a:rPr sz="1100" b="0">
                          <a:solidFill>
                            <a:srgbClr val="FFFFFF"/>
                          </a:solidFill>
                        </a:rPr>
                        <a:t>Catalogue</a:t>
                      </a:r>
                    </a:p>
                  </a:txBody>
                  <a:tcPr marL="54864" marR="54864" marT="27432" marB="27432">
                    <a:solidFill>
                      <a:srgbClr val="1E1E1E"/>
                    </a:solidFill>
                  </a:tcPr>
                </a:tc>
              </a:tr>
              <a:tr h="566928">
                <a:tc>
                  <a:txBody>
                    <a:bodyPr wrap="square"/>
                    <a:lstStyle/>
                    <a:p>
                      <a:r>
                        <a:rPr sz="1100" b="1">
                          <a:solidFill>
                            <a:srgbClr val="1DB954"/>
                          </a:solidFill>
                        </a:rPr>
                        <a:t>Risk Mitigation Score</a:t>
                      </a:r>
                    </a:p>
                  </a:txBody>
                  <a:tcPr marL="54864" marR="54864" marT="27432" marB="27432">
                    <a:solidFill>
                      <a:srgbClr val="2A2A2A"/>
                    </a:solidFill>
                  </a:tcPr>
                </a:tc>
                <a:tc>
                  <a:txBody>
                    <a:bodyPr wrap="square"/>
                    <a:lstStyle/>
                    <a:p>
                      <a:r>
                        <a:rPr sz="1100" b="0">
                          <a:solidFill>
                            <a:srgbClr val="FFFFFF"/>
                          </a:solidFill>
                        </a:rPr>
                        <a:t>100 % des datasets classifiés et chiffrés · 0 incident</a:t>
                      </a:r>
                    </a:p>
                  </a:txBody>
                  <a:tcPr marL="54864" marR="54864" marT="27432" marB="27432">
                    <a:solidFill>
                      <a:srgbClr val="2A2A2A"/>
                    </a:solidFill>
                  </a:tcPr>
                </a:tc>
                <a:tc>
                  <a:txBody>
                    <a:bodyPr wrap="square"/>
                    <a:lstStyle/>
                    <a:p>
                      <a:r>
                        <a:rPr sz="1100" b="0">
                          <a:solidFill>
                            <a:srgbClr val="FFFFFF"/>
                          </a:solidFill>
                        </a:rPr>
                        <a:t>Catalogue, Splunk</a:t>
                      </a:r>
                    </a:p>
                  </a:txBody>
                  <a:tcPr marL="54864" marR="54864" marT="27432" marB="27432">
                    <a:solidFill>
                      <a:srgbClr val="2A2A2A"/>
                    </a:solidFill>
                  </a:tcPr>
                </a:tc>
              </a:tr>
              <a:tr h="566928">
                <a:tc>
                  <a:txBody>
                    <a:bodyPr wrap="square"/>
                    <a:lstStyle/>
                    <a:p>
                      <a:r>
                        <a:rPr sz="1100" b="1">
                          <a:solidFill>
                            <a:srgbClr val="1DB954"/>
                          </a:solidFill>
                        </a:rPr>
                        <a:t>Droits des personnes</a:t>
                      </a:r>
                    </a:p>
                  </a:txBody>
                  <a:tcPr marL="54864" marR="54864" marT="27432" marB="27432">
                    <a:solidFill>
                      <a:srgbClr val="1E1E1E"/>
                    </a:solidFill>
                  </a:tcPr>
                </a:tc>
                <a:tc>
                  <a:txBody>
                    <a:bodyPr wrap="square"/>
                    <a:lstStyle/>
                    <a:p>
                      <a:r>
                        <a:rPr sz="1100" b="0">
                          <a:solidFill>
                            <a:srgbClr val="FFFFFF"/>
                          </a:solidFill>
                        </a:rPr>
                        <a:t>Effacement &lt; 30 j, 100 % dans les délais légaux</a:t>
                      </a:r>
                    </a:p>
                  </a:txBody>
                  <a:tcPr marL="54864" marR="54864" marT="27432" marB="27432">
                    <a:solidFill>
                      <a:srgbClr val="1E1E1E"/>
                    </a:solidFill>
                  </a:tcPr>
                </a:tc>
                <a:tc>
                  <a:txBody>
                    <a:bodyPr wrap="square"/>
                    <a:lstStyle/>
                    <a:p>
                      <a:r>
                        <a:rPr sz="1100" b="0">
                          <a:solidFill>
                            <a:srgbClr val="FFFFFF"/>
                          </a:solidFill>
                        </a:rPr>
                        <a:t>Privacy Team</a:t>
                      </a:r>
                    </a:p>
                  </a:txBody>
                  <a:tcPr marL="54864" marR="54864" marT="27432" marB="27432">
                    <a:solidFill>
                      <a:srgbClr val="1E1E1E"/>
                    </a:solidFill>
                  </a:tcPr>
                </a:tc>
              </a:tr>
            </a:tbl>
          </a:graphicData>
        </a:graphic>
      </p:graphicFrame>
      <p:sp>
        <p:nvSpPr>
          <p:cNvPr id="12" name="Rectangle 11"/>
          <p:cNvSpPr/>
          <p:nvPr/>
        </p:nvSpPr>
        <p:spPr>
          <a:xfrm>
            <a:off x="4480560" y="4937760"/>
            <a:ext cx="7315200" cy="132588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4983480"/>
            <a:ext cx="7132320" cy="1234440"/>
          </a:xfrm>
          <a:prstGeom prst="rect">
            <a:avLst/>
          </a:prstGeom>
          <a:noFill/>
        </p:spPr>
        <p:txBody>
          <a:bodyPr wrap="square" anchor="ctr" lIns="45720" rIns="45720" tIns="27432" bIns="27432">
            <a:spAutoFit/>
          </a:bodyPr>
          <a:lstStyle/>
          <a:p>
            <a:pPr algn="l"/>
            <a:r>
              <a:rPr sz="1100" b="0" i="0">
                <a:solidFill>
                  <a:srgbClr val="FFFFFF"/>
                </a:solidFill>
              </a:rPr>
              <a:t>Livrables : Data Quality Report · Compliance Assessment · Technical Integration Plan · Risk Assessment Report · Stakeholder Feedback
Risques : résistance au changement (ateliers dès M1), intégration technique (POC en phase 1), dérive de périmètre (UE borné)</a:t>
            </a:r>
          </a:p>
        </p:txBody>
      </p:sp>
      <p:sp>
        <p:nvSpPr>
          <p:cNvPr id="14" name="TextBox 13"/>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15" name="TextBox 14"/>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Impact business</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 6-7 M€ pour couvrir 530 M€ d'exposition — ordres de grandeur, hypothèses à affiner en phase 1</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852160" cy="35661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pact-business-dark.png"/>
          <p:cNvPicPr>
            <a:picLocks noChangeAspect="1"/>
          </p:cNvPicPr>
          <p:nvPr/>
        </p:nvPicPr>
        <p:blipFill>
          <a:blip r:embed="rId2"/>
          <a:stretch>
            <a:fillRect/>
          </a:stretch>
        </p:blipFill>
        <p:spPr>
          <a:xfrm>
            <a:off x="457200" y="1417320"/>
            <a:ext cx="5669280" cy="3023616"/>
          </a:xfrm>
          <a:prstGeom prst="rect">
            <a:avLst/>
          </a:prstGeom>
        </p:spPr>
      </p:pic>
      <p:sp>
        <p:nvSpPr>
          <p:cNvPr id="9" name="Rectangle 8"/>
          <p:cNvSpPr/>
          <p:nvPr/>
        </p:nvSpPr>
        <p:spPr>
          <a:xfrm>
            <a:off x="6400800" y="1371600"/>
            <a:ext cx="5394960" cy="8229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371600"/>
            <a:ext cx="53949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81328"/>
            <a:ext cx="5212080" cy="411480"/>
          </a:xfrm>
          <a:prstGeom prst="rect">
            <a:avLst/>
          </a:prstGeom>
          <a:noFill/>
        </p:spPr>
        <p:txBody>
          <a:bodyPr wrap="square" anchor="t" lIns="45720" rIns="45720" tIns="27432" bIns="27432">
            <a:spAutoFit/>
          </a:bodyPr>
          <a:lstStyle/>
          <a:p>
            <a:pPr algn="l"/>
            <a:r>
              <a:rPr sz="1200" b="1" i="0">
                <a:solidFill>
                  <a:srgbClr val="1DB954"/>
                </a:solidFill>
              </a:rPr>
              <a:t>Compliance</a:t>
            </a:r>
          </a:p>
        </p:txBody>
      </p:sp>
      <p:sp>
        <p:nvSpPr>
          <p:cNvPr id="12" name="TextBox 11"/>
          <p:cNvSpPr txBox="1"/>
          <p:nvPr/>
        </p:nvSpPr>
        <p:spPr>
          <a:xfrm>
            <a:off x="6492240" y="1755648"/>
            <a:ext cx="5212080" cy="411480"/>
          </a:xfrm>
          <a:prstGeom prst="rect">
            <a:avLst/>
          </a:prstGeom>
          <a:noFill/>
        </p:spPr>
        <p:txBody>
          <a:bodyPr wrap="square" anchor="t" lIns="45720" rIns="45720" tIns="27432" bIns="27432">
            <a:spAutoFit/>
          </a:bodyPr>
          <a:lstStyle/>
          <a:p>
            <a:pPr algn="l"/>
            <a:r>
              <a:rPr sz="1050" b="0" i="0">
                <a:solidFill>
                  <a:srgbClr val="B3B3B3"/>
                </a:solidFill>
              </a:rPr>
              <a:t>Réduction du risque d'amende (jusqu'à 4 % du CA) ; pas de récidive IMY</a:t>
            </a:r>
          </a:p>
        </p:txBody>
      </p:sp>
      <p:sp>
        <p:nvSpPr>
          <p:cNvPr id="13" name="Rectangle 12"/>
          <p:cNvSpPr/>
          <p:nvPr/>
        </p:nvSpPr>
        <p:spPr>
          <a:xfrm>
            <a:off x="6400800" y="2267712"/>
            <a:ext cx="5394960" cy="8229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2267712"/>
            <a:ext cx="53949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377440"/>
            <a:ext cx="5212080" cy="411480"/>
          </a:xfrm>
          <a:prstGeom prst="rect">
            <a:avLst/>
          </a:prstGeom>
          <a:noFill/>
        </p:spPr>
        <p:txBody>
          <a:bodyPr wrap="square" anchor="t" lIns="45720" rIns="45720" tIns="27432" bIns="27432">
            <a:spAutoFit/>
          </a:bodyPr>
          <a:lstStyle/>
          <a:p>
            <a:pPr algn="l"/>
            <a:r>
              <a:rPr sz="1200" b="1" i="0">
                <a:solidFill>
                  <a:srgbClr val="1DB954"/>
                </a:solidFill>
              </a:rPr>
              <a:t>Cost savings</a:t>
            </a:r>
          </a:p>
        </p:txBody>
      </p:sp>
      <p:sp>
        <p:nvSpPr>
          <p:cNvPr id="16" name="TextBox 15"/>
          <p:cNvSpPr txBox="1"/>
          <p:nvPr/>
        </p:nvSpPr>
        <p:spPr>
          <a:xfrm>
            <a:off x="6492240" y="2651760"/>
            <a:ext cx="5212080" cy="411480"/>
          </a:xfrm>
          <a:prstGeom prst="rect">
            <a:avLst/>
          </a:prstGeom>
          <a:noFill/>
        </p:spPr>
        <p:txBody>
          <a:bodyPr wrap="square" anchor="t" lIns="45720" rIns="45720" tIns="27432" bIns="27432">
            <a:spAutoFit/>
          </a:bodyPr>
          <a:lstStyle/>
          <a:p>
            <a:pPr algn="l"/>
            <a:r>
              <a:rPr sz="1050" b="0" i="0">
                <a:solidFill>
                  <a:srgbClr val="B3B3B3"/>
                </a:solidFill>
              </a:rPr>
              <a:t>-20 % de temps d'accès aux données ≈ 25 ETP libérés (hyp. 500 analystes × 2 h/sem.)</a:t>
            </a:r>
          </a:p>
        </p:txBody>
      </p:sp>
      <p:sp>
        <p:nvSpPr>
          <p:cNvPr id="17" name="Rectangle 16"/>
          <p:cNvSpPr/>
          <p:nvPr/>
        </p:nvSpPr>
        <p:spPr>
          <a:xfrm>
            <a:off x="6400800" y="3163824"/>
            <a:ext cx="5394960" cy="8229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3163824"/>
            <a:ext cx="53949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273552"/>
            <a:ext cx="5212080" cy="411480"/>
          </a:xfrm>
          <a:prstGeom prst="rect">
            <a:avLst/>
          </a:prstGeom>
          <a:noFill/>
        </p:spPr>
        <p:txBody>
          <a:bodyPr wrap="square" anchor="t" lIns="45720" rIns="45720" tIns="27432" bIns="27432">
            <a:spAutoFit/>
          </a:bodyPr>
          <a:lstStyle/>
          <a:p>
            <a:pPr algn="l"/>
            <a:r>
              <a:rPr sz="1200" b="1" i="0">
                <a:solidFill>
                  <a:srgbClr val="1DB954"/>
                </a:solidFill>
              </a:rPr>
              <a:t>Trust</a:t>
            </a:r>
          </a:p>
        </p:txBody>
      </p:sp>
      <p:sp>
        <p:nvSpPr>
          <p:cNvPr id="20" name="TextBox 19"/>
          <p:cNvSpPr txBox="1"/>
          <p:nvPr/>
        </p:nvSpPr>
        <p:spPr>
          <a:xfrm>
            <a:off x="6492240" y="3547872"/>
            <a:ext cx="5212080" cy="411480"/>
          </a:xfrm>
          <a:prstGeom prst="rect">
            <a:avLst/>
          </a:prstGeom>
          <a:noFill/>
        </p:spPr>
        <p:txBody>
          <a:bodyPr wrap="square" anchor="t" lIns="45720" rIns="45720" tIns="27432" bIns="27432">
            <a:spAutoFit/>
          </a:bodyPr>
          <a:lstStyle/>
          <a:p>
            <a:pPr algn="l"/>
            <a:r>
              <a:rPr sz="1050" b="0" i="0">
                <a:solidFill>
                  <a:srgbClr val="B3B3B3"/>
                </a:solidFill>
              </a:rPr>
              <a:t>Transparence et contrôle → rétention UE ; différenciation vs Apple, Amazon, YouTube</a:t>
            </a:r>
          </a:p>
        </p:txBody>
      </p:sp>
      <p:sp>
        <p:nvSpPr>
          <p:cNvPr id="21" name="Rectangle 20"/>
          <p:cNvSpPr/>
          <p:nvPr/>
        </p:nvSpPr>
        <p:spPr>
          <a:xfrm>
            <a:off x="6400800" y="4059935"/>
            <a:ext cx="5394960" cy="8229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4059935"/>
            <a:ext cx="539496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169663"/>
            <a:ext cx="5212080" cy="411480"/>
          </a:xfrm>
          <a:prstGeom prst="rect">
            <a:avLst/>
          </a:prstGeom>
          <a:noFill/>
        </p:spPr>
        <p:txBody>
          <a:bodyPr wrap="square" anchor="t" lIns="45720" rIns="45720" tIns="27432" bIns="27432">
            <a:spAutoFit/>
          </a:bodyPr>
          <a:lstStyle/>
          <a:p>
            <a:pPr algn="l"/>
            <a:r>
              <a:rPr sz="1200" b="1" i="0">
                <a:solidFill>
                  <a:srgbClr val="1DB954"/>
                </a:solidFill>
              </a:rPr>
              <a:t>Scalability</a:t>
            </a:r>
          </a:p>
        </p:txBody>
      </p:sp>
      <p:sp>
        <p:nvSpPr>
          <p:cNvPr id="24" name="TextBox 23"/>
          <p:cNvSpPr txBox="1"/>
          <p:nvPr/>
        </p:nvSpPr>
        <p:spPr>
          <a:xfrm>
            <a:off x="6492240" y="4443983"/>
            <a:ext cx="5212080" cy="411480"/>
          </a:xfrm>
          <a:prstGeom prst="rect">
            <a:avLst/>
          </a:prstGeom>
          <a:noFill/>
        </p:spPr>
        <p:txBody>
          <a:bodyPr wrap="square" anchor="t" lIns="45720" rIns="45720" tIns="27432" bIns="27432">
            <a:spAutoFit/>
          </a:bodyPr>
          <a:lstStyle/>
          <a:p>
            <a:pPr algn="l"/>
            <a:r>
              <a:rPr sz="1050" b="0" i="0">
                <a:solidFill>
                  <a:srgbClr val="B3B3B3"/>
                </a:solidFill>
              </a:rPr>
              <a:t>Absorbe la croissance (450 M → 600 M+) et les nouvelles réglementations</a:t>
            </a:r>
          </a:p>
        </p:txBody>
      </p:sp>
      <p:sp>
        <p:nvSpPr>
          <p:cNvPr id="25" name="Rectangle 24"/>
          <p:cNvSpPr/>
          <p:nvPr/>
        </p:nvSpPr>
        <p:spPr>
          <a:xfrm>
            <a:off x="365760" y="5074920"/>
            <a:ext cx="11430000" cy="118872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120640"/>
            <a:ext cx="11155680" cy="1097280"/>
          </a:xfrm>
          <a:prstGeom prst="rect">
            <a:avLst/>
          </a:prstGeom>
          <a:noFill/>
        </p:spPr>
        <p:txBody>
          <a:bodyPr wrap="square" anchor="ctr" lIns="45720" rIns="45720" tIns="27432" bIns="27432">
            <a:spAutoFit/>
          </a:bodyPr>
          <a:lstStyle/>
          <a:p>
            <a:pPr algn="l"/>
            <a:r>
              <a:rPr sz="1250" b="0" i="0">
                <a:solidFill>
                  <a:srgbClr val="FFFFFF"/>
                </a:solidFill>
              </a:rPr>
              <a:t>Coût 18 mois : personnel ≈ 1,9 M€ · licences ≈ 3 M€ · intégration 0,5-1 M€ · formation 0,3 M€. Phases 1-2 seules ≈ 2,5 M€. Le programme coûte ≈ 1 % de l'exposition maximale et à peine plus que l'amende déjà payée.</a:t>
            </a:r>
          </a:p>
        </p:txBody>
      </p:sp>
      <p:sp>
        <p:nvSpPr>
          <p:cNvPr id="27" name="TextBox 26"/>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28" name="TextBox 27"/>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3 décisions à prendre aujourd'hui</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Je ne demande pas 18 mois — je demande un CDO, 6 mois de budget et un message au personnel</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63040"/>
            <a:ext cx="11430000" cy="1417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63040"/>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463040"/>
            <a:ext cx="1097280" cy="141732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463040"/>
            <a:ext cx="1097280" cy="1417320"/>
          </a:xfrm>
          <a:prstGeom prst="rect">
            <a:avLst/>
          </a:prstGeom>
          <a:noFill/>
        </p:spPr>
        <p:txBody>
          <a:bodyPr wrap="square" anchor="ctr" lIns="45720" rIns="45720" tIns="27432" bIns="27432">
            <a:spAutoFit/>
          </a:bodyPr>
          <a:lstStyle/>
          <a:p>
            <a:pPr algn="ctr"/>
            <a:r>
              <a:rPr sz="4000" b="1" i="0">
                <a:solidFill>
                  <a:srgbClr val="1DB954"/>
                </a:solidFill>
              </a:rPr>
              <a:t>1</a:t>
            </a:r>
          </a:p>
        </p:txBody>
      </p:sp>
      <p:sp>
        <p:nvSpPr>
          <p:cNvPr id="11" name="TextBox 10"/>
          <p:cNvSpPr txBox="1"/>
          <p:nvPr/>
        </p:nvSpPr>
        <p:spPr>
          <a:xfrm>
            <a:off x="1645920" y="1572768"/>
            <a:ext cx="9966960" cy="457200"/>
          </a:xfrm>
          <a:prstGeom prst="rect">
            <a:avLst/>
          </a:prstGeom>
          <a:noFill/>
        </p:spPr>
        <p:txBody>
          <a:bodyPr wrap="square" anchor="t" lIns="45720" rIns="45720" tIns="27432" bIns="27432">
            <a:spAutoFit/>
          </a:bodyPr>
          <a:lstStyle/>
          <a:p>
            <a:pPr algn="l"/>
            <a:r>
              <a:rPr sz="1800" b="1" i="0">
                <a:solidFill>
                  <a:srgbClr val="FFFFFF"/>
                </a:solidFill>
              </a:rPr>
              <a:t>Nommer le CDO</a:t>
            </a:r>
          </a:p>
        </p:txBody>
      </p:sp>
      <p:sp>
        <p:nvSpPr>
          <p:cNvPr id="12" name="TextBox 11"/>
          <p:cNvSpPr txBox="1"/>
          <p:nvPr/>
        </p:nvSpPr>
        <p:spPr>
          <a:xfrm>
            <a:off x="1645920" y="2029968"/>
            <a:ext cx="9966960" cy="411480"/>
          </a:xfrm>
          <a:prstGeom prst="rect">
            <a:avLst/>
          </a:prstGeom>
          <a:noFill/>
        </p:spPr>
        <p:txBody>
          <a:bodyPr wrap="square" anchor="t" lIns="45720" rIns="45720" tIns="27432" bIns="27432">
            <a:spAutoFit/>
          </a:bodyPr>
          <a:lstStyle/>
          <a:p>
            <a:pPr algn="l"/>
            <a:r>
              <a:rPr sz="1200" b="0" i="0">
                <a:solidFill>
                  <a:srgbClr val="B3B3B3"/>
                </a:solidFill>
              </a:rPr>
              <a:t>Prérequis bloquant de tout le plan : sans CDO, ni CoE ni stewards.</a:t>
            </a:r>
          </a:p>
        </p:txBody>
      </p:sp>
      <p:sp>
        <p:nvSpPr>
          <p:cNvPr id="13" name="TextBox 12"/>
          <p:cNvSpPr txBox="1"/>
          <p:nvPr/>
        </p:nvSpPr>
        <p:spPr>
          <a:xfrm>
            <a:off x="1645920" y="2423160"/>
            <a:ext cx="9966960" cy="411480"/>
          </a:xfrm>
          <a:prstGeom prst="rect">
            <a:avLst/>
          </a:prstGeom>
          <a:noFill/>
        </p:spPr>
        <p:txBody>
          <a:bodyPr wrap="square" anchor="t" lIns="45720" rIns="45720" tIns="27432" bIns="27432">
            <a:spAutoFit/>
          </a:bodyPr>
          <a:lstStyle/>
          <a:p>
            <a:pPr algn="l"/>
            <a:r>
              <a:rPr sz="1200" b="1" i="0">
                <a:solidFill>
                  <a:srgbClr val="1DB954"/>
                </a:solidFill>
              </a:rPr>
              <a:t>Action : profil validé et nomination sous 30 jours.</a:t>
            </a:r>
          </a:p>
        </p:txBody>
      </p:sp>
      <p:sp>
        <p:nvSpPr>
          <p:cNvPr id="14" name="Rectangle 13"/>
          <p:cNvSpPr/>
          <p:nvPr/>
        </p:nvSpPr>
        <p:spPr>
          <a:xfrm>
            <a:off x="365760" y="3017520"/>
            <a:ext cx="11430000" cy="1417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017520"/>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017520"/>
            <a:ext cx="1097280" cy="141732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017520"/>
            <a:ext cx="1097280" cy="1417320"/>
          </a:xfrm>
          <a:prstGeom prst="rect">
            <a:avLst/>
          </a:prstGeom>
          <a:noFill/>
        </p:spPr>
        <p:txBody>
          <a:bodyPr wrap="square" anchor="ctr" lIns="45720" rIns="45720" tIns="27432" bIns="27432">
            <a:spAutoFit/>
          </a:bodyPr>
          <a:lstStyle/>
          <a:p>
            <a:pPr algn="ctr"/>
            <a:r>
              <a:rPr sz="4000" b="1" i="0">
                <a:solidFill>
                  <a:srgbClr val="1DB954"/>
                </a:solidFill>
              </a:rPr>
              <a:t>2</a:t>
            </a:r>
          </a:p>
        </p:txBody>
      </p:sp>
      <p:sp>
        <p:nvSpPr>
          <p:cNvPr id="18" name="TextBox 17"/>
          <p:cNvSpPr txBox="1"/>
          <p:nvPr/>
        </p:nvSpPr>
        <p:spPr>
          <a:xfrm>
            <a:off x="1645920" y="3127248"/>
            <a:ext cx="9966960" cy="457200"/>
          </a:xfrm>
          <a:prstGeom prst="rect">
            <a:avLst/>
          </a:prstGeom>
          <a:noFill/>
        </p:spPr>
        <p:txBody>
          <a:bodyPr wrap="square" anchor="t" lIns="45720" rIns="45720" tIns="27432" bIns="27432">
            <a:spAutoFit/>
          </a:bodyPr>
          <a:lstStyle/>
          <a:p>
            <a:pPr algn="l"/>
            <a:r>
              <a:rPr sz="1800" b="1" i="0">
                <a:solidFill>
                  <a:srgbClr val="FFFFFF"/>
                </a:solidFill>
              </a:rPr>
              <a:t>Approuver le budget phases 1-2</a:t>
            </a:r>
          </a:p>
        </p:txBody>
      </p:sp>
      <p:sp>
        <p:nvSpPr>
          <p:cNvPr id="19" name="TextBox 18"/>
          <p:cNvSpPr txBox="1"/>
          <p:nvPr/>
        </p:nvSpPr>
        <p:spPr>
          <a:xfrm>
            <a:off x="1645920" y="3584448"/>
            <a:ext cx="9966960" cy="411480"/>
          </a:xfrm>
          <a:prstGeom prst="rect">
            <a:avLst/>
          </a:prstGeom>
          <a:noFill/>
        </p:spPr>
        <p:txBody>
          <a:bodyPr wrap="square" anchor="t" lIns="45720" rIns="45720" tIns="27432" bIns="27432">
            <a:spAutoFit/>
          </a:bodyPr>
          <a:lstStyle/>
          <a:p>
            <a:pPr algn="l"/>
            <a:r>
              <a:rPr sz="1200" b="0" i="0">
                <a:solidFill>
                  <a:srgbClr val="B3B3B3"/>
                </a:solidFill>
              </a:rPr>
              <a:t>≈ 2,5 M€ sur 6 mois : CoE + Privacy Team, OneTrust, catalogue pilote, formation.</a:t>
            </a:r>
          </a:p>
        </p:txBody>
      </p:sp>
      <p:sp>
        <p:nvSpPr>
          <p:cNvPr id="20" name="TextBox 19"/>
          <p:cNvSpPr txBox="1"/>
          <p:nvPr/>
        </p:nvSpPr>
        <p:spPr>
          <a:xfrm>
            <a:off x="1645920" y="3977639"/>
            <a:ext cx="9966960" cy="411480"/>
          </a:xfrm>
          <a:prstGeom prst="rect">
            <a:avLst/>
          </a:prstGeom>
          <a:noFill/>
        </p:spPr>
        <p:txBody>
          <a:bodyPr wrap="square" anchor="t" lIns="45720" rIns="45720" tIns="27432" bIns="27432">
            <a:spAutoFit/>
          </a:bodyPr>
          <a:lstStyle/>
          <a:p>
            <a:pPr algn="l"/>
            <a:r>
              <a:rPr sz="1200" b="1" i="0">
                <a:solidFill>
                  <a:srgbClr val="1DB954"/>
                </a:solidFill>
              </a:rPr>
              <a:t>Action : décision budgétaire ce trimestre.</a:t>
            </a:r>
          </a:p>
        </p:txBody>
      </p:sp>
      <p:sp>
        <p:nvSpPr>
          <p:cNvPr id="21" name="Rectangle 20"/>
          <p:cNvSpPr/>
          <p:nvPr/>
        </p:nvSpPr>
        <p:spPr>
          <a:xfrm>
            <a:off x="365760" y="4572000"/>
            <a:ext cx="11430000" cy="141732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572000"/>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572000"/>
            <a:ext cx="1097280" cy="1417320"/>
          </a:xfrm>
          <a:prstGeom prst="rect">
            <a:avLst/>
          </a:prstGeom>
          <a:solidFill>
            <a:srgbClr val="0A5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572000"/>
            <a:ext cx="1097280" cy="1417320"/>
          </a:xfrm>
          <a:prstGeom prst="rect">
            <a:avLst/>
          </a:prstGeom>
          <a:noFill/>
        </p:spPr>
        <p:txBody>
          <a:bodyPr wrap="square" anchor="ctr" lIns="45720" rIns="45720" tIns="27432" bIns="27432">
            <a:spAutoFit/>
          </a:bodyPr>
          <a:lstStyle/>
          <a:p>
            <a:pPr algn="ctr"/>
            <a:r>
              <a:rPr sz="4000" b="1" i="0">
                <a:solidFill>
                  <a:srgbClr val="1DB954"/>
                </a:solidFill>
              </a:rPr>
              <a:t>3</a:t>
            </a:r>
          </a:p>
        </p:txBody>
      </p:sp>
      <p:sp>
        <p:nvSpPr>
          <p:cNvPr id="25" name="TextBox 24"/>
          <p:cNvSpPr txBox="1"/>
          <p:nvPr/>
        </p:nvSpPr>
        <p:spPr>
          <a:xfrm>
            <a:off x="1645920" y="4681728"/>
            <a:ext cx="9966960" cy="457200"/>
          </a:xfrm>
          <a:prstGeom prst="rect">
            <a:avLst/>
          </a:prstGeom>
          <a:noFill/>
        </p:spPr>
        <p:txBody>
          <a:bodyPr wrap="square" anchor="t" lIns="45720" rIns="45720" tIns="27432" bIns="27432">
            <a:spAutoFit/>
          </a:bodyPr>
          <a:lstStyle/>
          <a:p>
            <a:pPr algn="l"/>
            <a:r>
              <a:rPr sz="1800" b="1" i="0">
                <a:solidFill>
                  <a:srgbClr val="FFFFFF"/>
                </a:solidFill>
              </a:rPr>
              <a:t>Lancer la communication interne</a:t>
            </a:r>
          </a:p>
        </p:txBody>
      </p:sp>
      <p:sp>
        <p:nvSpPr>
          <p:cNvPr id="26" name="TextBox 25"/>
          <p:cNvSpPr txBox="1"/>
          <p:nvPr/>
        </p:nvSpPr>
        <p:spPr>
          <a:xfrm>
            <a:off x="1645920" y="5138928"/>
            <a:ext cx="9966960" cy="411480"/>
          </a:xfrm>
          <a:prstGeom prst="rect">
            <a:avLst/>
          </a:prstGeom>
          <a:noFill/>
        </p:spPr>
        <p:txBody>
          <a:bodyPr wrap="square" anchor="t" lIns="45720" rIns="45720" tIns="27432" bIns="27432">
            <a:spAutoFit/>
          </a:bodyPr>
          <a:lstStyle/>
          <a:p>
            <a:pPr algn="l"/>
            <a:r>
              <a:rPr sz="1200" b="0" i="0">
                <a:solidFill>
                  <a:srgbClr val="B3B3B3"/>
                </a:solidFill>
              </a:rPr>
              <a:t>La résistance au changement est le risque n°1 identifié.</a:t>
            </a:r>
          </a:p>
        </p:txBody>
      </p:sp>
      <p:sp>
        <p:nvSpPr>
          <p:cNvPr id="27" name="TextBox 26"/>
          <p:cNvSpPr txBox="1"/>
          <p:nvPr/>
        </p:nvSpPr>
        <p:spPr>
          <a:xfrm>
            <a:off x="1645920" y="5532120"/>
            <a:ext cx="9966960" cy="411480"/>
          </a:xfrm>
          <a:prstGeom prst="rect">
            <a:avLst/>
          </a:prstGeom>
          <a:noFill/>
        </p:spPr>
        <p:txBody>
          <a:bodyPr wrap="square" anchor="t" lIns="45720" rIns="45720" tIns="27432" bIns="27432">
            <a:spAutoFit/>
          </a:bodyPr>
          <a:lstStyle/>
          <a:p>
            <a:pPr algn="l"/>
            <a:r>
              <a:rPr sz="1200" b="1" i="0">
                <a:solidFill>
                  <a:srgbClr val="1DB954"/>
                </a:solidFill>
              </a:rPr>
              <a:t>Action : message CEO + webinar CDO en M1.</a:t>
            </a:r>
          </a:p>
        </p:txBody>
      </p:sp>
      <p:sp>
        <p:nvSpPr>
          <p:cNvPr id="28" name="TextBox 27"/>
          <p:cNvSpPr txBox="1"/>
          <p:nvPr/>
        </p:nvSpPr>
        <p:spPr>
          <a:xfrm>
            <a:off x="365760" y="6126480"/>
            <a:ext cx="11430000" cy="320040"/>
          </a:xfrm>
          <a:prstGeom prst="rect">
            <a:avLst/>
          </a:prstGeom>
          <a:noFill/>
        </p:spPr>
        <p:txBody>
          <a:bodyPr wrap="square" anchor="t" lIns="45720" rIns="45720" tIns="27432" bIns="27432">
            <a:spAutoFit/>
          </a:bodyPr>
          <a:lstStyle/>
          <a:p>
            <a:pPr algn="ctr"/>
            <a:r>
              <a:rPr sz="1200" b="0" i="0">
                <a:solidFill>
                  <a:srgbClr val="B3B3B3"/>
                </a:solidFill>
              </a:rPr>
              <a:t>Le pilote fera la preuve. Résultats présentés au Committee en M6 — Go/No-Go avant toute généralisation.</a:t>
            </a:r>
          </a:p>
        </p:txBody>
      </p:sp>
      <p:sp>
        <p:nvSpPr>
          <p:cNvPr id="29" name="TextBox 28"/>
          <p:cNvSpPr txBox="1"/>
          <p:nvPr/>
        </p:nvSpPr>
        <p:spPr>
          <a:xfrm>
            <a:off x="365760" y="6473952"/>
            <a:ext cx="9144000" cy="274320"/>
          </a:xfrm>
          <a:prstGeom prst="rect">
            <a:avLst/>
          </a:prstGeom>
          <a:noFill/>
        </p:spPr>
        <p:txBody>
          <a:bodyPr wrap="square" anchor="t" lIns="45720" rIns="45720" tIns="27432" bIns="27432">
            <a:spAutoFit/>
          </a:bodyPr>
          <a:lstStyle/>
          <a:p>
            <a:pPr algn="l"/>
            <a:r>
              <a:rPr sz="900" b="0" i="0">
                <a:solidFill>
                  <a:srgbClr val="B3B3B3"/>
                </a:solidFill>
              </a:rPr>
              <a:t>Spotify — Data Governance Framework · Emeline ROBLOT — Data Governance Specialist · Septembre 2026</a:t>
            </a:r>
          </a:p>
        </p:txBody>
      </p:sp>
      <p:sp>
        <p:nvSpPr>
          <p:cNvPr id="30" name="TextBox 29"/>
          <p:cNvSpPr txBox="1"/>
          <p:nvPr/>
        </p:nvSpPr>
        <p:spPr>
          <a:xfrm>
            <a:off x="10881360" y="6473952"/>
            <a:ext cx="914400" cy="274320"/>
          </a:xfrm>
          <a:prstGeom prst="rect">
            <a:avLst/>
          </a:prstGeom>
          <a:noFill/>
        </p:spPr>
        <p:txBody>
          <a:bodyPr wrap="square" anchor="t" lIns="45720" rIns="45720" tIns="27432" bIns="27432">
            <a:spAutoFit/>
          </a:bodyPr>
          <a:lstStyle/>
          <a:p>
            <a:pPr algn="r"/>
            <a:r>
              <a:rPr sz="900" b="0" i="0">
                <a:solidFill>
                  <a:srgbClr val="B3B3B3"/>
                </a:solidFill>
              </a:rPr>
              <a:t>9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377440"/>
            <a:ext cx="11247120" cy="914400"/>
          </a:xfrm>
          <a:prstGeom prst="rect">
            <a:avLst/>
          </a:prstGeom>
          <a:noFill/>
        </p:spPr>
        <p:txBody>
          <a:bodyPr wrap="square" anchor="t" lIns="45720" rIns="45720" tIns="27432" bIns="27432">
            <a:spAutoFit/>
          </a:bodyPr>
          <a:lstStyle/>
          <a:p>
            <a:pPr algn="ctr"/>
            <a:r>
              <a:rPr sz="4000" b="1" i="0">
                <a:solidFill>
                  <a:srgbClr val="1DB954"/>
                </a:solidFill>
              </a:rPr>
              <a:t>Annexes</a:t>
            </a:r>
          </a:p>
        </p:txBody>
      </p:sp>
      <p:sp>
        <p:nvSpPr>
          <p:cNvPr id="5" name="TextBox 4"/>
          <p:cNvSpPr txBox="1"/>
          <p:nvPr/>
        </p:nvSpPr>
        <p:spPr>
          <a:xfrm>
            <a:off x="457200" y="3291840"/>
            <a:ext cx="11247120" cy="548640"/>
          </a:xfrm>
          <a:prstGeom prst="rect">
            <a:avLst/>
          </a:prstGeom>
          <a:noFill/>
        </p:spPr>
        <p:txBody>
          <a:bodyPr wrap="square" anchor="t" lIns="45720" rIns="45720" tIns="27432" bIns="27432">
            <a:spAutoFit/>
          </a:bodyPr>
          <a:lstStyle/>
          <a:p>
            <a:pPr algn="ctr"/>
            <a:r>
              <a:rPr sz="1600" b="0" i="0">
                <a:solidFill>
                  <a:srgbClr val="B3B3B3"/>
                </a:solidFill>
              </a:rPr>
              <a:t>Q&amp;A anticipé (Executive Q&amp;A Guide) · questions difficiles · références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Annexe — Q&amp;A anticipé (1/3)</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Executive Q&amp;A Guide — 12 questions officielles</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11247120" cy="411480"/>
          </a:xfrm>
          <a:prstGeom prst="rect">
            <a:avLst/>
          </a:prstGeom>
          <a:noFill/>
        </p:spPr>
        <p:txBody>
          <a:bodyPr wrap="square" anchor="t" lIns="45720" rIns="45720" tIns="27432" bIns="27432">
            <a:spAutoFit/>
          </a:bodyPr>
          <a:lstStyle/>
          <a:p>
            <a:pPr algn="l"/>
            <a:r>
              <a:rPr sz="1200" b="1" i="0">
                <a:solidFill>
                  <a:srgbClr val="1DB954"/>
                </a:solidFill>
              </a:rPr>
              <a:t>Q1 — Pourquoi maintenant ?</a:t>
            </a:r>
          </a:p>
        </p:txBody>
      </p:sp>
      <p:sp>
        <p:nvSpPr>
          <p:cNvPr id="10" name="TextBox 9"/>
          <p:cNvSpPr txBox="1"/>
          <p:nvPr/>
        </p:nvSpPr>
        <p:spPr>
          <a:xfrm>
            <a:off x="457200" y="1828800"/>
            <a:ext cx="11247120" cy="658368"/>
          </a:xfrm>
          <a:prstGeom prst="rect">
            <a:avLst/>
          </a:prstGeom>
          <a:noFill/>
        </p:spPr>
        <p:txBody>
          <a:bodyPr wrap="square" anchor="t" lIns="45720" rIns="45720" tIns="27432" bIns="27432">
            <a:spAutoFit/>
          </a:bodyPr>
          <a:lstStyle/>
          <a:p>
            <a:pPr algn="l"/>
            <a:r>
              <a:rPr sz="1100" b="0" i="0">
                <a:solidFill>
                  <a:srgbClr val="B3B3B3"/>
                </a:solidFill>
              </a:rPr>
              <a:t>450 M d'utilisateurs, 180 pays, GDPR/CCPA/DSA, sanction IMY 2023, silos qui freinent l'innovation. Attendre, c'est laisser le risque croître avec l'échelle.</a:t>
            </a:r>
          </a:p>
        </p:txBody>
      </p:sp>
      <p:sp>
        <p:nvSpPr>
          <p:cNvPr id="11" name="Rectangle 10"/>
          <p:cNvSpPr/>
          <p:nvPr/>
        </p:nvSpPr>
        <p:spPr>
          <a:xfrm>
            <a:off x="365760" y="2624328"/>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624328"/>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34056"/>
            <a:ext cx="11247120" cy="411480"/>
          </a:xfrm>
          <a:prstGeom prst="rect">
            <a:avLst/>
          </a:prstGeom>
          <a:noFill/>
        </p:spPr>
        <p:txBody>
          <a:bodyPr wrap="square" anchor="t" lIns="45720" rIns="45720" tIns="27432" bIns="27432">
            <a:spAutoFit/>
          </a:bodyPr>
          <a:lstStyle/>
          <a:p>
            <a:pPr algn="l"/>
            <a:r>
              <a:rPr sz="1200" b="1" i="0">
                <a:solidFill>
                  <a:srgbClr val="1DB954"/>
                </a:solidFill>
              </a:rPr>
              <a:t>Q2 — Impact sur les opérations existantes ?</a:t>
            </a:r>
          </a:p>
        </p:txBody>
      </p:sp>
      <p:sp>
        <p:nvSpPr>
          <p:cNvPr id="14" name="TextBox 13"/>
          <p:cNvSpPr txBox="1"/>
          <p:nvPr/>
        </p:nvSpPr>
        <p:spPr>
          <a:xfrm>
            <a:off x="457200" y="3035808"/>
            <a:ext cx="11247120" cy="658368"/>
          </a:xfrm>
          <a:prstGeom prst="rect">
            <a:avLst/>
          </a:prstGeom>
          <a:noFill/>
        </p:spPr>
        <p:txBody>
          <a:bodyPr wrap="square" anchor="t" lIns="45720" rIns="45720" tIns="27432" bIns="27432">
            <a:spAutoFit/>
          </a:bodyPr>
          <a:lstStyle/>
          <a:p>
            <a:pPr algn="l"/>
            <a:r>
              <a:rPr sz="1100" b="0" i="0">
                <a:solidFill>
                  <a:srgbClr val="B3B3B3"/>
                </a:solidFill>
              </a:rPr>
              <a:t>Le framework s'appuie sur l'existant (GCP, Airflow, Lexikon) : standards, owners et mesures, pas une nouvelle plateforme. Court terme : temps des stewards et formation ; long terme : moins de doublons, conformité fluide.</a:t>
            </a:r>
          </a:p>
        </p:txBody>
      </p:sp>
      <p:sp>
        <p:nvSpPr>
          <p:cNvPr id="15" name="Rectangle 14"/>
          <p:cNvSpPr/>
          <p:nvPr/>
        </p:nvSpPr>
        <p:spPr>
          <a:xfrm>
            <a:off x="365760" y="3831336"/>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831336"/>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941064"/>
            <a:ext cx="11247120" cy="411480"/>
          </a:xfrm>
          <a:prstGeom prst="rect">
            <a:avLst/>
          </a:prstGeom>
          <a:noFill/>
        </p:spPr>
        <p:txBody>
          <a:bodyPr wrap="square" anchor="t" lIns="45720" rIns="45720" tIns="27432" bIns="27432">
            <a:spAutoFit/>
          </a:bodyPr>
          <a:lstStyle/>
          <a:p>
            <a:pPr algn="l"/>
            <a:r>
              <a:rPr sz="1200" b="1" i="0">
                <a:solidFill>
                  <a:srgbClr val="1DB954"/>
                </a:solidFill>
              </a:rPr>
              <a:t>Q3 — Valeur business ?</a:t>
            </a:r>
          </a:p>
        </p:txBody>
      </p:sp>
      <p:sp>
        <p:nvSpPr>
          <p:cNvPr id="18" name="TextBox 17"/>
          <p:cNvSpPr txBox="1"/>
          <p:nvPr/>
        </p:nvSpPr>
        <p:spPr>
          <a:xfrm>
            <a:off x="457200" y="4242816"/>
            <a:ext cx="11247120" cy="658368"/>
          </a:xfrm>
          <a:prstGeom prst="rect">
            <a:avLst/>
          </a:prstGeom>
          <a:noFill/>
        </p:spPr>
        <p:txBody>
          <a:bodyPr wrap="square" anchor="t" lIns="45720" rIns="45720" tIns="27432" bIns="27432">
            <a:spAutoFit/>
          </a:bodyPr>
          <a:lstStyle/>
          <a:p>
            <a:pPr algn="l"/>
            <a:r>
              <a:rPr sz="1100" b="0" i="0">
                <a:solidFill>
                  <a:srgbClr val="B3B3B3"/>
                </a:solidFill>
              </a:rPr>
              <a:t>Compliance (risque jusqu'à 530 M€), cost savings (accès aux données, moins de retraitements), trust (rétention), scalability. Coût ≈ 6-7 M€ sur 18 mois.</a:t>
            </a:r>
          </a:p>
        </p:txBody>
      </p:sp>
      <p:sp>
        <p:nvSpPr>
          <p:cNvPr id="19" name="Rectangle 18"/>
          <p:cNvSpPr/>
          <p:nvPr/>
        </p:nvSpPr>
        <p:spPr>
          <a:xfrm>
            <a:off x="365760" y="5038344"/>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5038344"/>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148072"/>
            <a:ext cx="11247120" cy="411480"/>
          </a:xfrm>
          <a:prstGeom prst="rect">
            <a:avLst/>
          </a:prstGeom>
          <a:noFill/>
        </p:spPr>
        <p:txBody>
          <a:bodyPr wrap="square" anchor="t" lIns="45720" rIns="45720" tIns="27432" bIns="27432">
            <a:spAutoFit/>
          </a:bodyPr>
          <a:lstStyle/>
          <a:p>
            <a:pPr algn="l"/>
            <a:r>
              <a:rPr sz="1200" b="1" i="0">
                <a:solidFill>
                  <a:srgbClr val="1DB954"/>
                </a:solidFill>
              </a:rPr>
              <a:t>Q4 — Comment garantir la conformité GDPR/CCPA ?</a:t>
            </a:r>
          </a:p>
        </p:txBody>
      </p:sp>
      <p:sp>
        <p:nvSpPr>
          <p:cNvPr id="22" name="TextBox 21"/>
          <p:cNvSpPr txBox="1"/>
          <p:nvPr/>
        </p:nvSpPr>
        <p:spPr>
          <a:xfrm>
            <a:off x="457200" y="5449824"/>
            <a:ext cx="11247120" cy="658368"/>
          </a:xfrm>
          <a:prstGeom prst="rect">
            <a:avLst/>
          </a:prstGeom>
          <a:noFill/>
        </p:spPr>
        <p:txBody>
          <a:bodyPr wrap="square" anchor="t" lIns="45720" rIns="45720" tIns="27432" bIns="27432">
            <a:spAutoFit/>
          </a:bodyPr>
          <a:lstStyle/>
          <a:p>
            <a:pPr algn="l"/>
            <a:r>
              <a:rPr sz="1100" b="0" i="0">
                <a:solidFill>
                  <a:srgbClr val="B3B3B3"/>
                </a:solidFill>
              </a:rPr>
              <a:t>Base légale documentée par finalité, consentement granulaire, 7 droits avec SLA, Privacy Team, DPO indépendant, DPIA, registre art. 30, checklist tenue à jour.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Annexe — Q&amp;A anticipé (2/3)</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Executive Q&amp;A Guide — 12 questions officielles</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11247120" cy="411480"/>
          </a:xfrm>
          <a:prstGeom prst="rect">
            <a:avLst/>
          </a:prstGeom>
          <a:noFill/>
        </p:spPr>
        <p:txBody>
          <a:bodyPr wrap="square" anchor="t" lIns="45720" rIns="45720" tIns="27432" bIns="27432">
            <a:spAutoFit/>
          </a:bodyPr>
          <a:lstStyle/>
          <a:p>
            <a:pPr algn="l"/>
            <a:r>
              <a:rPr sz="1200" b="1" i="0">
                <a:solidFill>
                  <a:srgbClr val="1DB954"/>
                </a:solidFill>
              </a:rPr>
              <a:t>Q5 — Pourquoi le CoE ?</a:t>
            </a:r>
          </a:p>
        </p:txBody>
      </p:sp>
      <p:sp>
        <p:nvSpPr>
          <p:cNvPr id="10" name="TextBox 9"/>
          <p:cNvSpPr txBox="1"/>
          <p:nvPr/>
        </p:nvSpPr>
        <p:spPr>
          <a:xfrm>
            <a:off x="457200" y="1828800"/>
            <a:ext cx="11247120" cy="658368"/>
          </a:xfrm>
          <a:prstGeom prst="rect">
            <a:avLst/>
          </a:prstGeom>
          <a:noFill/>
        </p:spPr>
        <p:txBody>
          <a:bodyPr wrap="square" anchor="t" lIns="45720" rIns="45720" tIns="27432" bIns="27432">
            <a:spAutoFit/>
          </a:bodyPr>
          <a:lstStyle/>
          <a:p>
            <a:pPr algn="l"/>
            <a:r>
              <a:rPr sz="1100" b="0" i="0">
                <a:solidFill>
                  <a:srgbClr val="B3B3B3"/>
                </a:solidFill>
              </a:rPr>
              <a:t>Centralisé = goulot pour 180 pays ; embedded = les silos actuels. Le CoE combine standards communs et relais métier — modèle du guide et du cours pour une entreprise de cette taille.</a:t>
            </a:r>
          </a:p>
        </p:txBody>
      </p:sp>
      <p:sp>
        <p:nvSpPr>
          <p:cNvPr id="11" name="Rectangle 10"/>
          <p:cNvSpPr/>
          <p:nvPr/>
        </p:nvSpPr>
        <p:spPr>
          <a:xfrm>
            <a:off x="365760" y="2624328"/>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624328"/>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34056"/>
            <a:ext cx="11247120" cy="411480"/>
          </a:xfrm>
          <a:prstGeom prst="rect">
            <a:avLst/>
          </a:prstGeom>
          <a:noFill/>
        </p:spPr>
        <p:txBody>
          <a:bodyPr wrap="square" anchor="t" lIns="45720" rIns="45720" tIns="27432" bIns="27432">
            <a:spAutoFit/>
          </a:bodyPr>
          <a:lstStyle/>
          <a:p>
            <a:pPr algn="l"/>
            <a:r>
              <a:rPr sz="1200" b="1" i="0">
                <a:solidFill>
                  <a:srgbClr val="1DB954"/>
                </a:solidFill>
              </a:rPr>
              <a:t>Q6 — Comment mesurer le succès ?</a:t>
            </a:r>
          </a:p>
        </p:txBody>
      </p:sp>
      <p:sp>
        <p:nvSpPr>
          <p:cNvPr id="14" name="TextBox 13"/>
          <p:cNvSpPr txBox="1"/>
          <p:nvPr/>
        </p:nvSpPr>
        <p:spPr>
          <a:xfrm>
            <a:off x="457200" y="3035808"/>
            <a:ext cx="11247120" cy="658368"/>
          </a:xfrm>
          <a:prstGeom prst="rect">
            <a:avLst/>
          </a:prstGeom>
          <a:noFill/>
        </p:spPr>
        <p:txBody>
          <a:bodyPr wrap="square" anchor="t" lIns="45720" rIns="45720" tIns="27432" bIns="27432">
            <a:spAutoFit/>
          </a:bodyPr>
          <a:lstStyle/>
          <a:p>
            <a:pPr algn="l"/>
            <a:r>
              <a:rPr sz="1100" b="0" i="0">
                <a:solidFill>
                  <a:srgbClr val="B3B3B3"/>
                </a:solidFill>
              </a:rPr>
              <a:t>KPIs avec baselines : complétude &gt; 98 %, 100 % des demandes dans les délais, -20 % de délai d'accès, 0 incident critique, catalogue 100 %, &gt; 90 % formés, maturité 3,4 → 4,2.</a:t>
            </a:r>
          </a:p>
        </p:txBody>
      </p:sp>
      <p:sp>
        <p:nvSpPr>
          <p:cNvPr id="15" name="Rectangle 14"/>
          <p:cNvSpPr/>
          <p:nvPr/>
        </p:nvSpPr>
        <p:spPr>
          <a:xfrm>
            <a:off x="365760" y="3831336"/>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831336"/>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941064"/>
            <a:ext cx="11247120" cy="411480"/>
          </a:xfrm>
          <a:prstGeom prst="rect">
            <a:avLst/>
          </a:prstGeom>
          <a:noFill/>
        </p:spPr>
        <p:txBody>
          <a:bodyPr wrap="square" anchor="t" lIns="45720" rIns="45720" tIns="27432" bIns="27432">
            <a:spAutoFit/>
          </a:bodyPr>
          <a:lstStyle/>
          <a:p>
            <a:pPr algn="l"/>
            <a:r>
              <a:rPr sz="1200" b="1" i="0">
                <a:solidFill>
                  <a:srgbClr val="1DB954"/>
                </a:solidFill>
              </a:rPr>
              <a:t>Q7 — Combien de temps ?</a:t>
            </a:r>
          </a:p>
        </p:txBody>
      </p:sp>
      <p:sp>
        <p:nvSpPr>
          <p:cNvPr id="18" name="TextBox 17"/>
          <p:cNvSpPr txBox="1"/>
          <p:nvPr/>
        </p:nvSpPr>
        <p:spPr>
          <a:xfrm>
            <a:off x="457200" y="4242816"/>
            <a:ext cx="11247120" cy="658368"/>
          </a:xfrm>
          <a:prstGeom prst="rect">
            <a:avLst/>
          </a:prstGeom>
          <a:noFill/>
        </p:spPr>
        <p:txBody>
          <a:bodyPr wrap="square" anchor="t" lIns="45720" rIns="45720" tIns="27432" bIns="27432">
            <a:spAutoFit/>
          </a:bodyPr>
          <a:lstStyle/>
          <a:p>
            <a:pPr algn="l"/>
            <a:r>
              <a:rPr sz="1100" b="0" i="0">
                <a:solidFill>
                  <a:srgbClr val="B3B3B3"/>
                </a:solidFill>
              </a:rPr>
              <a:t>Pilote 4 mois (M3-M6), déploiement 12 mois, mode opérationnel à M18. Conforme au guide : pilote 3-6 mois, rollout 12-18 mois.</a:t>
            </a:r>
          </a:p>
        </p:txBody>
      </p:sp>
      <p:sp>
        <p:nvSpPr>
          <p:cNvPr id="19" name="Rectangle 18"/>
          <p:cNvSpPr/>
          <p:nvPr/>
        </p:nvSpPr>
        <p:spPr>
          <a:xfrm>
            <a:off x="365760" y="5038344"/>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5038344"/>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148072"/>
            <a:ext cx="11247120" cy="411480"/>
          </a:xfrm>
          <a:prstGeom prst="rect">
            <a:avLst/>
          </a:prstGeom>
          <a:noFill/>
        </p:spPr>
        <p:txBody>
          <a:bodyPr wrap="square" anchor="t" lIns="45720" rIns="45720" tIns="27432" bIns="27432">
            <a:spAutoFit/>
          </a:bodyPr>
          <a:lstStyle/>
          <a:p>
            <a:pPr algn="l"/>
            <a:r>
              <a:rPr sz="1200" b="1" i="0">
                <a:solidFill>
                  <a:srgbClr val="1DB954"/>
                </a:solidFill>
              </a:rPr>
              <a:t>Q8 — Quels coûts ?</a:t>
            </a:r>
          </a:p>
        </p:txBody>
      </p:sp>
      <p:sp>
        <p:nvSpPr>
          <p:cNvPr id="22" name="TextBox 21"/>
          <p:cNvSpPr txBox="1"/>
          <p:nvPr/>
        </p:nvSpPr>
        <p:spPr>
          <a:xfrm>
            <a:off x="457200" y="5449824"/>
            <a:ext cx="11247120" cy="658368"/>
          </a:xfrm>
          <a:prstGeom prst="rect">
            <a:avLst/>
          </a:prstGeom>
          <a:noFill/>
        </p:spPr>
        <p:txBody>
          <a:bodyPr wrap="square" anchor="t" lIns="45720" rIns="45720" tIns="27432" bIns="27432">
            <a:spAutoFit/>
          </a:bodyPr>
          <a:lstStyle/>
          <a:p>
            <a:pPr algn="l"/>
            <a:r>
              <a:rPr sz="1100" b="0" i="0">
                <a:solidFill>
                  <a:srgbClr val="B3B3B3"/>
                </a:solidFill>
              </a:rPr>
              <a:t>Personnel ≈ 1,9 M€, licences ≈ 3 M€, intégration 0,5-1 M€, formation 0,3 M€ → ≈ 6-7 M€ / 18 mois. Phases 1-2 ≈ 2,5 M€. Ordres de grandeur à affiner en phase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Annexe — Q&amp;A anticipé (3/3)</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Executive Q&amp;A Guide — 12 questions officielles</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11247120" cy="411480"/>
          </a:xfrm>
          <a:prstGeom prst="rect">
            <a:avLst/>
          </a:prstGeom>
          <a:noFill/>
        </p:spPr>
        <p:txBody>
          <a:bodyPr wrap="square" anchor="t" lIns="45720" rIns="45720" tIns="27432" bIns="27432">
            <a:spAutoFit/>
          </a:bodyPr>
          <a:lstStyle/>
          <a:p>
            <a:pPr algn="l"/>
            <a:r>
              <a:rPr sz="1200" b="1" i="0">
                <a:solidFill>
                  <a:srgbClr val="1DB954"/>
                </a:solidFill>
              </a:rPr>
              <a:t>Q9 — Adaptation aux évolutions réglementaires ?</a:t>
            </a:r>
          </a:p>
        </p:txBody>
      </p:sp>
      <p:sp>
        <p:nvSpPr>
          <p:cNvPr id="10" name="TextBox 9"/>
          <p:cNvSpPr txBox="1"/>
          <p:nvPr/>
        </p:nvSpPr>
        <p:spPr>
          <a:xfrm>
            <a:off x="457200" y="1828800"/>
            <a:ext cx="11247120" cy="658368"/>
          </a:xfrm>
          <a:prstGeom prst="rect">
            <a:avLst/>
          </a:prstGeom>
          <a:noFill/>
        </p:spPr>
        <p:txBody>
          <a:bodyPr wrap="square" anchor="t" lIns="45720" rIns="45720" tIns="27432" bIns="27432">
            <a:spAutoFit/>
          </a:bodyPr>
          <a:lstStyle/>
          <a:p>
            <a:pPr algn="l"/>
            <a:r>
              <a:rPr sz="1100" b="0" i="0">
                <a:solidFill>
                  <a:srgbClr val="B3B3B3"/>
                </a:solidFill>
              </a:rPr>
              <a:t>Veille DPO + Legal, revue annuelle de la politique, checklist trimestrielle, outils multi-juridictions ; DSA et AI Act déjà intégrés.</a:t>
            </a:r>
          </a:p>
        </p:txBody>
      </p:sp>
      <p:sp>
        <p:nvSpPr>
          <p:cNvPr id="11" name="Rectangle 10"/>
          <p:cNvSpPr/>
          <p:nvPr/>
        </p:nvSpPr>
        <p:spPr>
          <a:xfrm>
            <a:off x="365760" y="2624328"/>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624328"/>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34056"/>
            <a:ext cx="11247120" cy="411480"/>
          </a:xfrm>
          <a:prstGeom prst="rect">
            <a:avLst/>
          </a:prstGeom>
          <a:noFill/>
        </p:spPr>
        <p:txBody>
          <a:bodyPr wrap="square" anchor="t" lIns="45720" rIns="45720" tIns="27432" bIns="27432">
            <a:spAutoFit/>
          </a:bodyPr>
          <a:lstStyle/>
          <a:p>
            <a:pPr algn="l"/>
            <a:r>
              <a:rPr sz="1200" b="1" i="0">
                <a:solidFill>
                  <a:srgbClr val="1DB954"/>
                </a:solidFill>
              </a:rPr>
              <a:t>Q10 — Sécurité des données sensibles ?</a:t>
            </a:r>
          </a:p>
        </p:txBody>
      </p:sp>
      <p:sp>
        <p:nvSpPr>
          <p:cNvPr id="14" name="TextBox 13"/>
          <p:cNvSpPr txBox="1"/>
          <p:nvPr/>
        </p:nvSpPr>
        <p:spPr>
          <a:xfrm>
            <a:off x="457200" y="3035808"/>
            <a:ext cx="11247120" cy="658368"/>
          </a:xfrm>
          <a:prstGeom prst="rect">
            <a:avLst/>
          </a:prstGeom>
          <a:noFill/>
        </p:spPr>
        <p:txBody>
          <a:bodyPr wrap="square" anchor="t" lIns="45720" rIns="45720" tIns="27432" bIns="27432">
            <a:spAutoFit/>
          </a:bodyPr>
          <a:lstStyle/>
          <a:p>
            <a:pPr algn="l"/>
            <a:r>
              <a:rPr sz="1100" b="0" i="0">
                <a:solidFill>
                  <a:srgbClr val="B3B3B3"/>
                </a:solidFill>
              </a:rPr>
              <a:t>Classification 4 niveaux, chiffrement, accès nominatif minimal et journalisé, SIEM, PCI-DSS via prestataire certifié + SAQ-A, protocole d'incident 72 h testé chaque année.</a:t>
            </a:r>
          </a:p>
        </p:txBody>
      </p:sp>
      <p:sp>
        <p:nvSpPr>
          <p:cNvPr id="15" name="Rectangle 14"/>
          <p:cNvSpPr/>
          <p:nvPr/>
        </p:nvSpPr>
        <p:spPr>
          <a:xfrm>
            <a:off x="365760" y="3831336"/>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831336"/>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941064"/>
            <a:ext cx="11247120" cy="411480"/>
          </a:xfrm>
          <a:prstGeom prst="rect">
            <a:avLst/>
          </a:prstGeom>
          <a:noFill/>
        </p:spPr>
        <p:txBody>
          <a:bodyPr wrap="square" anchor="t" lIns="45720" rIns="45720" tIns="27432" bIns="27432">
            <a:spAutoFit/>
          </a:bodyPr>
          <a:lstStyle/>
          <a:p>
            <a:pPr algn="l"/>
            <a:r>
              <a:rPr sz="1200" b="1" i="0">
                <a:solidFill>
                  <a:srgbClr val="1DB954"/>
                </a:solidFill>
              </a:rPr>
              <a:t>Q11 — Risques principaux ?</a:t>
            </a:r>
          </a:p>
        </p:txBody>
      </p:sp>
      <p:sp>
        <p:nvSpPr>
          <p:cNvPr id="18" name="TextBox 17"/>
          <p:cNvSpPr txBox="1"/>
          <p:nvPr/>
        </p:nvSpPr>
        <p:spPr>
          <a:xfrm>
            <a:off x="457200" y="4242816"/>
            <a:ext cx="11247120" cy="658368"/>
          </a:xfrm>
          <a:prstGeom prst="rect">
            <a:avLst/>
          </a:prstGeom>
          <a:noFill/>
        </p:spPr>
        <p:txBody>
          <a:bodyPr wrap="square" anchor="t" lIns="45720" rIns="45720" tIns="27432" bIns="27432">
            <a:spAutoFit/>
          </a:bodyPr>
          <a:lstStyle/>
          <a:p>
            <a:pPr algn="l"/>
            <a:r>
              <a:rPr sz="1100" b="0" i="0">
                <a:solidFill>
                  <a:srgbClr val="B3B3B3"/>
                </a:solidFill>
              </a:rPr>
              <a:t>Résistance au changement (ateliers, stewards issus des équipes, quick wins) ; délais (phases bornées, Go/No-Go) ; coûts (budget par phase, licences négociées après audit de l'existant).</a:t>
            </a:r>
          </a:p>
        </p:txBody>
      </p:sp>
      <p:sp>
        <p:nvSpPr>
          <p:cNvPr id="19" name="Rectangle 18"/>
          <p:cNvSpPr/>
          <p:nvPr/>
        </p:nvSpPr>
        <p:spPr>
          <a:xfrm>
            <a:off x="365760" y="5038344"/>
            <a:ext cx="11430000" cy="10972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5038344"/>
            <a:ext cx="1143000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148072"/>
            <a:ext cx="11247120" cy="411480"/>
          </a:xfrm>
          <a:prstGeom prst="rect">
            <a:avLst/>
          </a:prstGeom>
          <a:noFill/>
        </p:spPr>
        <p:txBody>
          <a:bodyPr wrap="square" anchor="t" lIns="45720" rIns="45720" tIns="27432" bIns="27432">
            <a:spAutoFit/>
          </a:bodyPr>
          <a:lstStyle/>
          <a:p>
            <a:pPr algn="l"/>
            <a:r>
              <a:rPr sz="1200" b="1" i="0">
                <a:solidFill>
                  <a:srgbClr val="1DB954"/>
                </a:solidFill>
              </a:rPr>
              <a:t>Q12 — Impact sur l'agilité ?</a:t>
            </a:r>
          </a:p>
        </p:txBody>
      </p:sp>
      <p:sp>
        <p:nvSpPr>
          <p:cNvPr id="22" name="TextBox 21"/>
          <p:cNvSpPr txBox="1"/>
          <p:nvPr/>
        </p:nvSpPr>
        <p:spPr>
          <a:xfrm>
            <a:off x="457200" y="5449824"/>
            <a:ext cx="11247120" cy="658368"/>
          </a:xfrm>
          <a:prstGeom prst="rect">
            <a:avLst/>
          </a:prstGeom>
          <a:noFill/>
        </p:spPr>
        <p:txBody>
          <a:bodyPr wrap="square" anchor="t" lIns="45720" rIns="45720" tIns="27432" bIns="27432">
            <a:spAutoFit/>
          </a:bodyPr>
          <a:lstStyle/>
          <a:p>
            <a:pPr algn="l"/>
            <a:r>
              <a:rPr sz="1100" b="0" i="0">
                <a:solidFill>
                  <a:srgbClr val="B3B3B3"/>
                </a:solidFill>
              </a:rPr>
              <a:t>Positif : données trouvables et fiables = décisions plus rapides ; privacy by design dès les sprints = moins d'audits correctifs.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Annexe — questions difficiles</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Hors guide — préparées pour la soutenance</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17320"/>
            <a:ext cx="566928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566928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5486400" cy="411480"/>
          </a:xfrm>
          <a:prstGeom prst="rect">
            <a:avLst/>
          </a:prstGeom>
          <a:noFill/>
        </p:spPr>
        <p:txBody>
          <a:bodyPr wrap="square" anchor="t" lIns="45720" rIns="45720" tIns="27432" bIns="27432">
            <a:spAutoFit/>
          </a:bodyPr>
          <a:lstStyle/>
          <a:p>
            <a:pPr algn="l"/>
            <a:r>
              <a:rPr sz="1100" b="1" i="0">
                <a:solidFill>
                  <a:srgbClr val="1DB954"/>
                </a:solidFill>
              </a:rPr>
              <a:t>Spotify a déjà un DPO et une plateforme data de pointe : pourquoi Governance 2/5 ?</a:t>
            </a:r>
          </a:p>
        </p:txBody>
      </p:sp>
      <p:sp>
        <p:nvSpPr>
          <p:cNvPr id="10" name="TextBox 9"/>
          <p:cNvSpPr txBox="1"/>
          <p:nvPr/>
        </p:nvSpPr>
        <p:spPr>
          <a:xfrm>
            <a:off x="457200" y="1965960"/>
            <a:ext cx="5486400" cy="914400"/>
          </a:xfrm>
          <a:prstGeom prst="rect">
            <a:avLst/>
          </a:prstGeom>
          <a:noFill/>
        </p:spPr>
        <p:txBody>
          <a:bodyPr wrap="square" anchor="t" lIns="45720" rIns="45720" tIns="27432" bIns="27432">
            <a:spAutoFit/>
          </a:bodyPr>
          <a:lstStyle/>
          <a:p>
            <a:pPr algn="l"/>
            <a:r>
              <a:rPr sz="1050" b="0" i="0">
                <a:solidFill>
                  <a:srgbClr val="B3B3B3"/>
                </a:solidFill>
              </a:rPr>
              <a:t>Le niveau 2 mesure la gouvernance transverse, pas la technologie : pas de CDO, pas d'ownership par domaine, définitions divergentes, sanction 2023 sur la clarté de l'information. L'architecture est à 5 : c'est le paradoxe.</a:t>
            </a:r>
          </a:p>
        </p:txBody>
      </p:sp>
      <p:sp>
        <p:nvSpPr>
          <p:cNvPr id="11" name="Rectangle 10"/>
          <p:cNvSpPr/>
          <p:nvPr/>
        </p:nvSpPr>
        <p:spPr>
          <a:xfrm>
            <a:off x="6126480" y="1417320"/>
            <a:ext cx="566928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417320"/>
            <a:ext cx="566928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1527048"/>
            <a:ext cx="5486400" cy="411480"/>
          </a:xfrm>
          <a:prstGeom prst="rect">
            <a:avLst/>
          </a:prstGeom>
          <a:noFill/>
        </p:spPr>
        <p:txBody>
          <a:bodyPr wrap="square" anchor="t" lIns="45720" rIns="45720" tIns="27432" bIns="27432">
            <a:spAutoFit/>
          </a:bodyPr>
          <a:lstStyle/>
          <a:p>
            <a:pPr algn="l"/>
            <a:r>
              <a:rPr sz="1100" b="1" i="0">
                <a:solidFill>
                  <a:srgbClr val="1DB954"/>
                </a:solidFill>
              </a:rPr>
              <a:t>Pourquoi pas un data mesh, vu la culture squads ?</a:t>
            </a:r>
          </a:p>
        </p:txBody>
      </p:sp>
      <p:sp>
        <p:nvSpPr>
          <p:cNvPr id="14" name="TextBox 13"/>
          <p:cNvSpPr txBox="1"/>
          <p:nvPr/>
        </p:nvSpPr>
        <p:spPr>
          <a:xfrm>
            <a:off x="6217920" y="1965960"/>
            <a:ext cx="5486400" cy="914400"/>
          </a:xfrm>
          <a:prstGeom prst="rect">
            <a:avLst/>
          </a:prstGeom>
          <a:noFill/>
        </p:spPr>
        <p:txBody>
          <a:bodyPr wrap="square" anchor="t" lIns="45720" rIns="45720" tIns="27432" bIns="27432">
            <a:spAutoFit/>
          </a:bodyPr>
          <a:lstStyle/>
          <a:p>
            <a:pPr algn="l"/>
            <a:r>
              <a:rPr sz="1050" b="0" i="0">
                <a:solidFill>
                  <a:srgbClr val="B3B3B3"/>
                </a:solidFill>
              </a:rPr>
              <a:t>Compatible : les stewards par domaine sont les domain owners du mesh, le CoE fournit plateforme et standards fédérés. Le CoE est le nom du cours pour la couche de gouvernance fédérée.</a:t>
            </a:r>
          </a:p>
        </p:txBody>
      </p:sp>
      <p:sp>
        <p:nvSpPr>
          <p:cNvPr id="15" name="Rectangle 14"/>
          <p:cNvSpPr/>
          <p:nvPr/>
        </p:nvSpPr>
        <p:spPr>
          <a:xfrm>
            <a:off x="365760" y="3044952"/>
            <a:ext cx="566928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044952"/>
            <a:ext cx="566928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154680"/>
            <a:ext cx="5486400" cy="411480"/>
          </a:xfrm>
          <a:prstGeom prst="rect">
            <a:avLst/>
          </a:prstGeom>
          <a:noFill/>
        </p:spPr>
        <p:txBody>
          <a:bodyPr wrap="square" anchor="t" lIns="45720" rIns="45720" tIns="27432" bIns="27432">
            <a:spAutoFit/>
          </a:bodyPr>
          <a:lstStyle/>
          <a:p>
            <a:pPr algn="l"/>
            <a:r>
              <a:rPr sz="1100" b="1" i="0">
                <a:solidFill>
                  <a:srgbClr val="1DB954"/>
                </a:solidFill>
              </a:rPr>
              <a:t>5 stewards pour 180 pays, suffisant ?</a:t>
            </a:r>
          </a:p>
        </p:txBody>
      </p:sp>
      <p:sp>
        <p:nvSpPr>
          <p:cNvPr id="18" name="TextBox 17"/>
          <p:cNvSpPr txBox="1"/>
          <p:nvPr/>
        </p:nvSpPr>
        <p:spPr>
          <a:xfrm>
            <a:off x="457200" y="3593592"/>
            <a:ext cx="5486400" cy="914400"/>
          </a:xfrm>
          <a:prstGeom prst="rect">
            <a:avLst/>
          </a:prstGeom>
          <a:noFill/>
        </p:spPr>
        <p:txBody>
          <a:bodyPr wrap="square" anchor="t" lIns="45720" rIns="45720" tIns="27432" bIns="27432">
            <a:spAutoFit/>
          </a:bodyPr>
          <a:lstStyle/>
          <a:p>
            <a:pPr algn="l"/>
            <a:r>
              <a:rPr sz="1050" b="0" i="0">
                <a:solidFill>
                  <a:srgbClr val="B3B3B3"/>
                </a:solidFill>
              </a:rPr>
              <a:t>5 stewards par domaine de données, pas par pays. Les spécificités locales (PDPA, LGPD) sont portées par le DPO et Legal ; relais régionaux en phase 3.</a:t>
            </a:r>
          </a:p>
        </p:txBody>
      </p:sp>
      <p:sp>
        <p:nvSpPr>
          <p:cNvPr id="19" name="Rectangle 18"/>
          <p:cNvSpPr/>
          <p:nvPr/>
        </p:nvSpPr>
        <p:spPr>
          <a:xfrm>
            <a:off x="6126480" y="3044952"/>
            <a:ext cx="566928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3044952"/>
            <a:ext cx="566928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3154680"/>
            <a:ext cx="5486400" cy="411480"/>
          </a:xfrm>
          <a:prstGeom prst="rect">
            <a:avLst/>
          </a:prstGeom>
          <a:noFill/>
        </p:spPr>
        <p:txBody>
          <a:bodyPr wrap="square" anchor="t" lIns="45720" rIns="45720" tIns="27432" bIns="27432">
            <a:spAutoFit/>
          </a:bodyPr>
          <a:lstStyle/>
          <a:p>
            <a:pPr algn="l"/>
            <a:r>
              <a:rPr sz="1100" b="1" i="0">
                <a:solidFill>
                  <a:srgbClr val="1DB954"/>
                </a:solidFill>
              </a:rPr>
              <a:t>Base légale de la recommandation : consentement ou intérêt légitime ?</a:t>
            </a:r>
          </a:p>
        </p:txBody>
      </p:sp>
      <p:sp>
        <p:nvSpPr>
          <p:cNvPr id="22" name="TextBox 21"/>
          <p:cNvSpPr txBox="1"/>
          <p:nvPr/>
        </p:nvSpPr>
        <p:spPr>
          <a:xfrm>
            <a:off x="6217920" y="3593592"/>
            <a:ext cx="5486400" cy="914400"/>
          </a:xfrm>
          <a:prstGeom prst="rect">
            <a:avLst/>
          </a:prstGeom>
          <a:noFill/>
        </p:spPr>
        <p:txBody>
          <a:bodyPr wrap="square" anchor="t" lIns="45720" rIns="45720" tIns="27432" bIns="27432">
            <a:spAutoFit/>
          </a:bodyPr>
          <a:lstStyle/>
          <a:p>
            <a:pPr algn="l"/>
            <a:r>
              <a:rPr sz="1050" b="0" i="0">
                <a:solidFill>
                  <a:srgbClr val="B3B3B3"/>
                </a:solidFill>
              </a:rPr>
              <a:t>Contrat ou intérêt légitime pour la personnalisation du service, avec option non profilée (DSA art. 27) ; consentement pour la publicité ciblée et le partage à des tiers.</a:t>
            </a:r>
          </a:p>
        </p:txBody>
      </p:sp>
      <p:sp>
        <p:nvSpPr>
          <p:cNvPr id="23" name="Rectangle 22"/>
          <p:cNvSpPr/>
          <p:nvPr/>
        </p:nvSpPr>
        <p:spPr>
          <a:xfrm>
            <a:off x="365760" y="4672584"/>
            <a:ext cx="566928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672584"/>
            <a:ext cx="566928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782312"/>
            <a:ext cx="5486400" cy="411480"/>
          </a:xfrm>
          <a:prstGeom prst="rect">
            <a:avLst/>
          </a:prstGeom>
          <a:noFill/>
        </p:spPr>
        <p:txBody>
          <a:bodyPr wrap="square" anchor="t" lIns="45720" rIns="45720" tIns="27432" bIns="27432">
            <a:spAutoFit/>
          </a:bodyPr>
          <a:lstStyle/>
          <a:p>
            <a:pPr algn="l"/>
            <a:r>
              <a:rPr sz="1100" b="1" i="0">
                <a:solidFill>
                  <a:srgbClr val="1DB954"/>
                </a:solidFill>
              </a:rPr>
              <a:t>Que faites-vous des données inférées sensibles ?</a:t>
            </a:r>
          </a:p>
        </p:txBody>
      </p:sp>
      <p:sp>
        <p:nvSpPr>
          <p:cNvPr id="26" name="TextBox 25"/>
          <p:cNvSpPr txBox="1"/>
          <p:nvPr/>
        </p:nvSpPr>
        <p:spPr>
          <a:xfrm>
            <a:off x="457200" y="5221224"/>
            <a:ext cx="5486400" cy="914400"/>
          </a:xfrm>
          <a:prstGeom prst="rect">
            <a:avLst/>
          </a:prstGeom>
          <a:noFill/>
        </p:spPr>
        <p:txBody>
          <a:bodyPr wrap="square" anchor="t" lIns="45720" rIns="45720" tIns="27432" bIns="27432">
            <a:spAutoFit/>
          </a:bodyPr>
          <a:lstStyle/>
          <a:p>
            <a:pPr algn="l"/>
            <a:r>
              <a:rPr sz="1050" b="0" i="0">
                <a:solidFill>
                  <a:srgbClr val="B3B3B3"/>
                </a:solidFill>
              </a:rPr>
              <a:t>Interdiction de profiler sur des catégories art. 9 inférées (humeur, religion, orientation), classe « Sensible » avec DPIA, audit des biais trimestriel.</a:t>
            </a:r>
          </a:p>
        </p:txBody>
      </p:sp>
      <p:sp>
        <p:nvSpPr>
          <p:cNvPr id="27" name="Rectangle 26"/>
          <p:cNvSpPr/>
          <p:nvPr/>
        </p:nvSpPr>
        <p:spPr>
          <a:xfrm>
            <a:off x="6126480" y="4672584"/>
            <a:ext cx="5669280" cy="1508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26480" y="4672584"/>
            <a:ext cx="5669280" cy="7315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4782312"/>
            <a:ext cx="5486400" cy="411480"/>
          </a:xfrm>
          <a:prstGeom prst="rect">
            <a:avLst/>
          </a:prstGeom>
          <a:noFill/>
        </p:spPr>
        <p:txBody>
          <a:bodyPr wrap="square" anchor="t" lIns="45720" rIns="45720" tIns="27432" bIns="27432">
            <a:spAutoFit/>
          </a:bodyPr>
          <a:lstStyle/>
          <a:p>
            <a:pPr algn="l"/>
            <a:r>
              <a:rPr sz="1100" b="1" i="0">
                <a:solidFill>
                  <a:srgbClr val="1DB954"/>
                </a:solidFill>
              </a:rPr>
              <a:t>Et si le pilote échoue ?</a:t>
            </a:r>
          </a:p>
        </p:txBody>
      </p:sp>
      <p:sp>
        <p:nvSpPr>
          <p:cNvPr id="30" name="TextBox 29"/>
          <p:cNvSpPr txBox="1"/>
          <p:nvPr/>
        </p:nvSpPr>
        <p:spPr>
          <a:xfrm>
            <a:off x="6217920" y="5221224"/>
            <a:ext cx="5486400" cy="914400"/>
          </a:xfrm>
          <a:prstGeom prst="rect">
            <a:avLst/>
          </a:prstGeom>
          <a:noFill/>
        </p:spPr>
        <p:txBody>
          <a:bodyPr wrap="square" anchor="t" lIns="45720" rIns="45720" tIns="27432" bIns="27432">
            <a:spAutoFit/>
          </a:bodyPr>
          <a:lstStyle/>
          <a:p>
            <a:pPr algn="l"/>
            <a:r>
              <a:rPr sz="1050" b="0" i="0">
                <a:solidFill>
                  <a:srgbClr val="B3B3B3"/>
                </a:solidFill>
              </a:rPr>
              <a:t>≈ 2,5 M€ engagés. Même en No-Go, on garde un catalogue User Data, une baseline qualité, un pipeline de droits testé et une équipe formée : le plan est ajusté, pas perdu.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64592"/>
            <a:ext cx="11430000" cy="731520"/>
          </a:xfrm>
          <a:prstGeom prst="rect">
            <a:avLst/>
          </a:prstGeom>
          <a:noFill/>
        </p:spPr>
        <p:txBody>
          <a:bodyPr wrap="square" anchor="t" lIns="45720" rIns="45720" tIns="27432" bIns="27432">
            <a:spAutoFit/>
          </a:bodyPr>
          <a:lstStyle/>
          <a:p>
            <a:pPr algn="l"/>
            <a:r>
              <a:rPr sz="2800" b="1" i="0">
                <a:solidFill>
                  <a:srgbClr val="1DB954"/>
                </a:solidFill>
              </a:rPr>
              <a:t>Annexe — références</a:t>
            </a:r>
          </a:p>
        </p:txBody>
      </p:sp>
      <p:sp>
        <p:nvSpPr>
          <p:cNvPr id="5" name="TextBox 4"/>
          <p:cNvSpPr txBox="1"/>
          <p:nvPr/>
        </p:nvSpPr>
        <p:spPr>
          <a:xfrm>
            <a:off x="365760" y="804672"/>
            <a:ext cx="11430000" cy="411480"/>
          </a:xfrm>
          <a:prstGeom prst="rect">
            <a:avLst/>
          </a:prstGeom>
          <a:noFill/>
        </p:spPr>
        <p:txBody>
          <a:bodyPr wrap="square" anchor="t" lIns="45720" rIns="45720" tIns="27432" bIns="27432">
            <a:spAutoFit/>
          </a:bodyPr>
          <a:lstStyle/>
          <a:p>
            <a:pPr algn="l"/>
            <a:r>
              <a:rPr sz="1300" b="0" i="0">
                <a:solidFill>
                  <a:srgbClr val="B3B3B3"/>
                </a:solidFill>
              </a:rPr>
              <a:t>Sources publiques utilisées (vérifiées en septembre 2026)</a:t>
            </a:r>
          </a:p>
        </p:txBody>
      </p:sp>
      <p:sp>
        <p:nvSpPr>
          <p:cNvPr id="6" name="Rectangle 5"/>
          <p:cNvSpPr/>
          <p:nvPr/>
        </p:nvSpPr>
        <p:spPr>
          <a:xfrm>
            <a:off x="365760" y="1207008"/>
            <a:ext cx="11430000" cy="27432"/>
          </a:xfrm>
          <a:prstGeom prst="rect">
            <a:avLst/>
          </a:prstGeom>
          <a:solidFill>
            <a:srgbClr val="1DB9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63040"/>
            <a:ext cx="11247120" cy="4754880"/>
          </a:xfrm>
          <a:prstGeom prst="rect">
            <a:avLst/>
          </a:prstGeom>
          <a:noFill/>
        </p:spPr>
        <p:txBody>
          <a:bodyPr wrap="square" lIns="45720" rIns="45720">
            <a:spAutoFit/>
          </a:bodyPr>
          <a:lstStyle/>
          <a:p>
            <a:pPr>
              <a:spcBef>
                <a:spcPts val="1000"/>
              </a:spcBef>
            </a:pPr>
            <a:r>
              <a:rPr sz="1300" b="0">
                <a:solidFill>
                  <a:srgbClr val="FFFFFF"/>
                </a:solidFill>
              </a:rPr>
              <a:t>•  IMY (autorité suédoise), juin 2023 : amende administrative de 58 M SEK contre Spotify AB pour manquement au droit d'accès (art. 15 GDPR) ; confirmée par la cour administrative d'appel — imy.se / noyb.eu</a:t>
            </a:r>
          </a:p>
          <a:p>
            <a:pPr>
              <a:spcBef>
                <a:spcPts val="1000"/>
              </a:spcBef>
            </a:pPr>
            <a:r>
              <a:rPr sz="1300" b="0">
                <a:solidFill>
                  <a:srgbClr val="FFFFFF"/>
                </a:solidFill>
              </a:rPr>
              <a:t>•  Spotify, rapport annuel 2023 (Form 20-F) : chiffre d'affaires 13,247 Md€ → 4 % ≈ 530 M€</a:t>
            </a:r>
          </a:p>
          <a:p>
            <a:pPr>
              <a:spcBef>
                <a:spcPts val="1000"/>
              </a:spcBef>
            </a:pPr>
            <a:r>
              <a:rPr sz="1300" b="0">
                <a:solidFill>
                  <a:srgbClr val="FFFFFF"/>
                </a:solidFill>
              </a:rPr>
              <a:t>•  Spotify Engineering, février 2020 : « How We Improved Data Discovery for Data Scientists at Spotify » — catalogue interne Lexikon, migration GCP/BigQuery depuis 2016</a:t>
            </a:r>
          </a:p>
          <a:p>
            <a:pPr>
              <a:spcBef>
                <a:spcPts val="1000"/>
              </a:spcBef>
            </a:pPr>
            <a:r>
              <a:rPr sz="1300" b="0">
                <a:solidFill>
                  <a:srgbClr val="FFFFFF"/>
                </a:solidFill>
              </a:rPr>
              <a:t>•  Business case Jedha : 450 M d'utilisateurs actifs, 200 M d'abonnés premium, 180+ pays (2023)</a:t>
            </a:r>
          </a:p>
          <a:p>
            <a:pPr>
              <a:spcBef>
                <a:spcPts val="1000"/>
              </a:spcBef>
            </a:pPr>
            <a:r>
              <a:rPr sz="1300" b="0">
                <a:solidFill>
                  <a:srgbClr val="FFFFFF"/>
                </a:solidFill>
              </a:rPr>
              <a:t>•  Ressources Jedha : Governance Principles Guide, Data Maturity Assessment Template, Roles Template, Organizational Models Overview, Tech Tools Overview, Pilot Implementation Template, Executive Q&amp;A Guide, Compliance Checklist</a:t>
            </a:r>
          </a:p>
          <a:p>
            <a:pPr>
              <a:spcBef>
                <a:spcPts val="1000"/>
              </a:spcBef>
            </a:pPr>
            <a:r>
              <a:rPr sz="1300" b="0">
                <a:solidFill>
                  <a:srgbClr val="FFFFFF"/>
                </a:solidFill>
              </a:rPr>
              <a:t>•  Hypothèses (à valider en phase 1) : DPO en place, prestataire de paiement certifié PCI-DSS, part de métadonnées incomplètes, coûts du programme, gains d'efficacité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